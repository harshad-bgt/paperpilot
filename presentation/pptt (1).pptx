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11FAA8B4-D058-457E-A8B4-12CB90F9F67E}"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C6C59D56-916C-47AD-A5FA-9603FDB24161}"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02A317BF-1BAB-4DAE-ACE0-D0A311718A29}"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78CB50D5-18F2-4810-A7F3-A49797EF9E6B}"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368D6BF6-4487-46C6-ACE7-DC6CCD3CA729}"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4CB8550D-2E63-4E9C-A723-805C39E2B628}"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42C5E22-898D-4AA7-81EB-390B62169A4F}"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70052822-1D2C-462F-A9AF-E9B3266EE599}"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781B10A7-0AAF-4FAE-9A43-A9A87403934F}"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49A3620D-7501-4AB7-BBA3-7FDD84D5A188}"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2011C49E-5D53-4C03-9C78-B9E0440CEBCD}"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14A0CACB-CAD6-4934-BD12-7759DFEEB559}"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E446B86E-0338-4F99-8F60-2927B795EA87}"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3DFB116F-3059-4D45-9640-617219A89D97}"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893246BE-D7D4-4CC2-9FA0-CB11A88B6907}"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0EA34D96-99EF-49DB-A133-0B004369B86D}"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48C0CDB2-2D4C-4FF9-B816-987A8F39FFB5}"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2154ACA1-BFB8-44DA-AE66-96580DAF5BCE}"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8716A18E-ADB6-4985-A6BB-F8F8B2202C33}"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DEE8350B-2ECE-46A2-8FB1-DE45AACC1F87}"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2D251231-8572-449E-9A63-214AB648F3FB}"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FE0CA0F9-4FCD-4096-95BF-DA7D6678B395}"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6151AA6E-DBDD-4D3A-A621-2DAB4FFE009A}"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endParaRPr lang="en-IN" sz="1400" b="0" strike="noStrike" spc="-1">
              <a:solidFill>
                <a:srgbClr val="000000"/>
              </a:solidFill>
              <a:latin typeface="Arial"/>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endParaRPr lang="en-IN" sz="1400" b="0" strike="noStrike" spc="-1">
              <a:solidFill>
                <a:srgbClr val="000000"/>
              </a:solidFill>
              <a:latin typeface="Arial"/>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AF4AB7CA-3AA1-4E30-AD1D-84243DF536EE}"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1960" y="1709640"/>
            <a:ext cx="10515240" cy="2852280"/>
          </a:xfrm>
          <a:prstGeom prst="rect">
            <a:avLst/>
          </a:prstGeom>
          <a:noFill/>
          <a:ln w="0">
            <a:noFill/>
          </a:ln>
        </p:spPr>
        <p:txBody>
          <a:bodyPr anchor="b">
            <a:normAutofit/>
          </a:bodyPr>
          <a:lstStyle/>
          <a:p>
            <a:r>
              <a:rPr lang="en-IN" sz="6000" b="0" strike="noStrike" spc="-1">
                <a:solidFill>
                  <a:srgbClr val="000000"/>
                </a:solidFill>
                <a:latin typeface="Arial"/>
              </a:rPr>
              <a:t>Click to edit the title text format</a:t>
            </a:r>
          </a:p>
        </p:txBody>
      </p:sp>
      <p:sp>
        <p:nvSpPr>
          <p:cNvPr id="6" name="PlaceHolder 2"/>
          <p:cNvSpPr>
            <a:spLocks noGrp="1"/>
          </p:cNvSpPr>
          <p:nvPr>
            <p:ph type="body"/>
          </p:nvPr>
        </p:nvSpPr>
        <p:spPr>
          <a:xfrm>
            <a:off x="831960" y="4589640"/>
            <a:ext cx="10515240" cy="1499760"/>
          </a:xfrm>
          <a:prstGeom prst="rect">
            <a:avLst/>
          </a:prstGeom>
          <a:noFill/>
          <a:ln w="0">
            <a:noFill/>
          </a:ln>
        </p:spPr>
        <p:txBody>
          <a:bodyPr anchor="t">
            <a:normAutofit fontScale="47000"/>
          </a:bodyPr>
          <a:lstStyle/>
          <a:p>
            <a:pPr marL="432000" indent="-324000">
              <a:spcBef>
                <a:spcPts val="1417"/>
              </a:spcBef>
              <a:buClr>
                <a:srgbClr val="000000"/>
              </a:buClr>
              <a:buSzPct val="45000"/>
              <a:buFont typeface="Wingdings" charset="2"/>
              <a:buChar char=""/>
            </a:pPr>
            <a:r>
              <a:rPr lang="en-IN" sz="2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400" b="0" strike="noStrike" spc="-1">
                <a:solidFill>
                  <a:srgbClr val="000000"/>
                </a:solidFill>
                <a:latin typeface="Arial"/>
              </a:rPr>
              <a:t>Seventh Outline Level</a:t>
            </a:r>
          </a:p>
        </p:txBody>
      </p:sp>
      <p:sp>
        <p:nvSpPr>
          <p:cNvPr id="2" name="PlaceHolder 3"/>
          <p:cNvSpPr>
            <a:spLocks noGrp="1"/>
          </p:cNvSpPr>
          <p:nvPr>
            <p:ph type="dt" idx="1"/>
          </p:nvPr>
        </p:nvSpPr>
        <p:spPr>
          <a:xfrm>
            <a:off x="838080" y="6356520"/>
            <a:ext cx="2742840" cy="364680"/>
          </a:xfrm>
          <a:prstGeom prst="rect">
            <a:avLst/>
          </a:prstGeom>
          <a:noFill/>
          <a:ln w="0">
            <a:noFill/>
          </a:ln>
        </p:spPr>
        <p:txBody>
          <a:bodyPr anchor="ctr">
            <a:noAutofit/>
          </a:bodyPr>
          <a:lstStyle>
            <a:lvl1pPr>
              <a:defRPr lang="en-IN" sz="1400" b="0" strike="noStrike" spc="-1">
                <a:latin typeface="Times New Roman"/>
              </a:defRPr>
            </a:lvl1pPr>
          </a:lstStyle>
          <a:p>
            <a:r>
              <a:rPr lang="en-IN" sz="1400" b="0" strike="noStrike" spc="-1">
                <a:latin typeface="Times New Roman"/>
              </a:rPr>
              <a:t>&lt;date/time&gt;</a:t>
            </a:r>
          </a:p>
        </p:txBody>
      </p:sp>
      <p:sp>
        <p:nvSpPr>
          <p:cNvPr id="3" name="PlaceHolder 4"/>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lang="en-IN" sz="1400" b="0" strike="noStrike" spc="-1">
                <a:latin typeface="Times New Roman"/>
              </a:defRPr>
            </a:lvl1pPr>
          </a:lstStyle>
          <a:p>
            <a:pPr algn="ctr">
              <a:buNone/>
            </a:pPr>
            <a:r>
              <a:rPr lang="en-IN" sz="1400" b="0" strike="noStrike" spc="-1">
                <a:latin typeface="Times New Roman"/>
              </a:rPr>
              <a:t>&lt;footer&gt;</a:t>
            </a:r>
          </a:p>
        </p:txBody>
      </p:sp>
      <p:sp>
        <p:nvSpPr>
          <p:cNvPr id="4" name="PlaceHolder 5"/>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tabLst>
                <a:tab pos="0" algn="l"/>
              </a:tabLst>
              <a:defRPr lang="en-US" sz="1200" b="0" strike="noStrike" spc="-1">
                <a:solidFill>
                  <a:srgbClr val="888888"/>
                </a:solidFill>
                <a:latin typeface="Calibri"/>
                <a:ea typeface="Calibri"/>
              </a:defRPr>
            </a:lvl1pPr>
          </a:lstStyle>
          <a:p>
            <a:pPr algn="r">
              <a:lnSpc>
                <a:spcPct val="100000"/>
              </a:lnSpc>
              <a:buNone/>
              <a:tabLst>
                <a:tab pos="0" algn="l"/>
              </a:tabLst>
            </a:pPr>
            <a:fld id="{7E8B618D-1FE1-4111-AC0B-271804FFC215}" type="slidenum">
              <a:rPr lang="en-US" sz="1200" b="0" strike="noStrike" spc="-1">
                <a:solidFill>
                  <a:srgbClr val="888888"/>
                </a:solidFill>
                <a:latin typeface="Calibri"/>
                <a:ea typeface="Calibri"/>
              </a:rPr>
              <a:t>‹#›</a:t>
            </a:fld>
            <a:endParaRPr lang="en-IN"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rmAutofit/>
          </a:bodyPr>
          <a:lstStyle/>
          <a:p>
            <a:r>
              <a:rPr lang="en-IN" sz="4400" b="0" strike="noStrike" spc="-1">
                <a:solidFill>
                  <a:srgbClr val="000000"/>
                </a:solidFill>
                <a:latin typeface="Arial"/>
              </a:rPr>
              <a:t>Click to edit the title text format</a:t>
            </a: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rmAutofit/>
          </a:bodyPr>
          <a:lstStyle/>
          <a:p>
            <a:pPr marL="432000" indent="-324000">
              <a:spcBef>
                <a:spcPts val="1417"/>
              </a:spcBef>
              <a:buClr>
                <a:srgbClr val="000000"/>
              </a:buClr>
              <a:buSzPct val="45000"/>
              <a:buFont typeface="Wingdings" charset="2"/>
              <a:buChar char=""/>
            </a:pPr>
            <a:r>
              <a:rPr lang="en-IN" sz="2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800" b="0" strike="noStrike" spc="-1">
                <a:solidFill>
                  <a:srgbClr val="000000"/>
                </a:solidFill>
                <a:latin typeface="Arial"/>
              </a:rPr>
              <a:t>Seventh Outline Level</a:t>
            </a: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a:defRPr lang="en-IN" sz="1400" b="0" strike="noStrike" spc="-1">
                <a:latin typeface="Times New Roman"/>
              </a:defRPr>
            </a:lvl1pPr>
          </a:lstStyle>
          <a:p>
            <a:r>
              <a:rPr lang="en-IN" sz="1400" b="0" strike="noStrike" spc="-1">
                <a:latin typeface="Times New Roman"/>
              </a:rPr>
              <a:t>&lt;date/time&gt;</a:t>
            </a: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algn="ctr">
              <a:buNone/>
              <a:defRPr lang="en-IN" sz="1400" b="0" strike="noStrike" spc="-1">
                <a:latin typeface="Times New Roman"/>
              </a:defRPr>
            </a:lvl1pPr>
          </a:lstStyle>
          <a:p>
            <a:pPr algn="ctr">
              <a:buNone/>
            </a:pPr>
            <a:r>
              <a:rPr lang="en-IN" sz="1400" b="0" strike="noStrike" spc="-1">
                <a:latin typeface="Times New Roman"/>
              </a:rPr>
              <a:t>&lt;footer&gt;</a:t>
            </a: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tabLst>
                <a:tab pos="0" algn="l"/>
              </a:tabLst>
              <a:defRPr lang="en-US" sz="1200" b="0" strike="noStrike" spc="-1">
                <a:solidFill>
                  <a:srgbClr val="888888"/>
                </a:solidFill>
                <a:latin typeface="Calibri"/>
                <a:ea typeface="Calibri"/>
              </a:defRPr>
            </a:lvl1pPr>
          </a:lstStyle>
          <a:p>
            <a:pPr algn="r">
              <a:lnSpc>
                <a:spcPct val="100000"/>
              </a:lnSpc>
              <a:buNone/>
              <a:tabLst>
                <a:tab pos="0" algn="l"/>
              </a:tabLst>
            </a:pPr>
            <a:fld id="{8A9F8574-0F4E-4E41-84CD-3E38274D655D}" type="slidenum">
              <a:rPr lang="en-US" sz="1200" b="0" strike="noStrike" spc="-1">
                <a:solidFill>
                  <a:srgbClr val="888888"/>
                </a:solidFill>
                <a:latin typeface="Calibri"/>
                <a:ea typeface="Calibri"/>
              </a:rPr>
              <a:t>‹#›</a:t>
            </a:fld>
            <a:endParaRPr lang="en-IN"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1960" y="1709640"/>
            <a:ext cx="10515240" cy="2852280"/>
          </a:xfrm>
          <a:prstGeom prst="rect">
            <a:avLst/>
          </a:prstGeom>
          <a:noFill/>
          <a:ln w="0">
            <a:noFill/>
          </a:ln>
        </p:spPr>
        <p:txBody>
          <a:bodyPr anchor="b">
            <a:normAutofit/>
          </a:bodyPr>
          <a:lstStyle/>
          <a:p>
            <a:pPr algn="ctr">
              <a:lnSpc>
                <a:spcPct val="90000"/>
              </a:lnSpc>
              <a:buNone/>
            </a:pPr>
            <a:r>
              <a:rPr lang="en-US" sz="6600" b="1" strike="noStrike" spc="-1">
                <a:solidFill>
                  <a:srgbClr val="000000"/>
                </a:solidFill>
                <a:latin typeface="Calibri"/>
                <a:ea typeface="Calibri"/>
              </a:rPr>
              <a:t>IBM University Engagement Project Submission</a:t>
            </a:r>
            <a:br>
              <a:rPr sz="6000"/>
            </a:br>
            <a:endParaRPr lang="en-IN" sz="6600" b="0" strike="noStrike" spc="-1">
              <a:solidFill>
                <a:srgbClr val="000000"/>
              </a:solidFill>
              <a:latin typeface="Arial"/>
            </a:endParaRPr>
          </a:p>
        </p:txBody>
      </p:sp>
      <p:sp>
        <p:nvSpPr>
          <p:cNvPr id="83" name="PlaceHolder 2"/>
          <p:cNvSpPr>
            <a:spLocks noGrp="1"/>
          </p:cNvSpPr>
          <p:nvPr>
            <p:ph/>
          </p:nvPr>
        </p:nvSpPr>
        <p:spPr>
          <a:xfrm>
            <a:off x="1014840" y="3903840"/>
            <a:ext cx="10515240" cy="1499760"/>
          </a:xfrm>
          <a:prstGeom prst="rect">
            <a:avLst/>
          </a:prstGeom>
          <a:noFill/>
          <a:ln w="0">
            <a:noFill/>
          </a:ln>
        </p:spPr>
        <p:txBody>
          <a:bodyPr anchor="t">
            <a:noAutofit/>
          </a:bodyPr>
          <a:lstStyle/>
          <a:p>
            <a:pPr marL="457200" indent="-228600" algn="ctr">
              <a:lnSpc>
                <a:spcPct val="90000"/>
              </a:lnSpc>
              <a:spcBef>
                <a:spcPts val="1001"/>
              </a:spcBef>
              <a:buNone/>
              <a:tabLst>
                <a:tab pos="0" algn="l"/>
              </a:tabLst>
            </a:pPr>
            <a:r>
              <a:rPr lang="en-US" sz="2400" b="1" i="1" strike="noStrike" spc="-1">
                <a:solidFill>
                  <a:srgbClr val="888888"/>
                </a:solidFill>
                <a:latin typeface="Calibri"/>
                <a:ea typeface="Calibri"/>
              </a:rPr>
              <a:t>“Exploring the Power of Agentic AI with IBM Granite and LangFlow”</a:t>
            </a:r>
            <a:endParaRPr lang="en-IN" sz="24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Google Shape;92;p2"/>
          <p:cNvSpPr/>
          <p:nvPr/>
        </p:nvSpPr>
        <p:spPr>
          <a:xfrm>
            <a:off x="690480" y="4425480"/>
            <a:ext cx="10795320" cy="198720"/>
          </a:xfrm>
          <a:prstGeom prst="rect">
            <a:avLst/>
          </a:prstGeom>
          <a:noFill/>
          <a:ln w="0">
            <a:noFill/>
          </a:ln>
        </p:spPr>
        <p:style>
          <a:lnRef idx="0">
            <a:scrgbClr r="0" g="0" b="0"/>
          </a:lnRef>
          <a:fillRef idx="0">
            <a:scrgbClr r="0" g="0" b="0"/>
          </a:fillRef>
          <a:effectRef idx="0">
            <a:scrgbClr r="0" g="0" b="0"/>
          </a:effectRef>
          <a:fontRef idx="minor"/>
        </p:style>
      </p:sp>
      <p:sp>
        <p:nvSpPr>
          <p:cNvPr id="85" name="Google Shape;95;p2"/>
          <p:cNvSpPr/>
          <p:nvPr/>
        </p:nvSpPr>
        <p:spPr>
          <a:xfrm>
            <a:off x="1102320" y="1174680"/>
            <a:ext cx="7426080" cy="451080"/>
          </a:xfrm>
          <a:prstGeom prst="rect">
            <a:avLst/>
          </a:prstGeom>
          <a:noFill/>
          <a:ln w="0">
            <a:noFill/>
          </a:ln>
        </p:spPr>
        <p:style>
          <a:lnRef idx="0">
            <a:scrgbClr r="0" g="0" b="0"/>
          </a:lnRef>
          <a:fillRef idx="0">
            <a:scrgbClr r="0" g="0" b="0"/>
          </a:fillRef>
          <a:effectRef idx="0">
            <a:scrgbClr r="0" g="0" b="0"/>
          </a:effectRef>
          <a:fontRef idx="minor"/>
        </p:style>
      </p:sp>
      <p:graphicFrame>
        <p:nvGraphicFramePr>
          <p:cNvPr id="86" name="Google Shape;96;p2"/>
          <p:cNvGraphicFramePr/>
          <p:nvPr/>
        </p:nvGraphicFramePr>
        <p:xfrm>
          <a:off x="1328400" y="2571120"/>
          <a:ext cx="9394560" cy="2288880"/>
        </p:xfrm>
        <a:graphic>
          <a:graphicData uri="http://schemas.openxmlformats.org/drawingml/2006/table">
            <a:tbl>
              <a:tblPr/>
              <a:tblGrid>
                <a:gridCol w="2064600">
                  <a:extLst>
                    <a:ext uri="{9D8B030D-6E8A-4147-A177-3AD203B41FA5}">
                      <a16:colId xmlns:a16="http://schemas.microsoft.com/office/drawing/2014/main" val="20000"/>
                    </a:ext>
                  </a:extLst>
                </a:gridCol>
                <a:gridCol w="2443320">
                  <a:extLst>
                    <a:ext uri="{9D8B030D-6E8A-4147-A177-3AD203B41FA5}">
                      <a16:colId xmlns:a16="http://schemas.microsoft.com/office/drawing/2014/main" val="20001"/>
                    </a:ext>
                  </a:extLst>
                </a:gridCol>
                <a:gridCol w="2443320">
                  <a:extLst>
                    <a:ext uri="{9D8B030D-6E8A-4147-A177-3AD203B41FA5}">
                      <a16:colId xmlns:a16="http://schemas.microsoft.com/office/drawing/2014/main" val="20002"/>
                    </a:ext>
                  </a:extLst>
                </a:gridCol>
                <a:gridCol w="2443320">
                  <a:extLst>
                    <a:ext uri="{9D8B030D-6E8A-4147-A177-3AD203B41FA5}">
                      <a16:colId xmlns:a16="http://schemas.microsoft.com/office/drawing/2014/main" val="20003"/>
                    </a:ext>
                  </a:extLst>
                </a:gridCol>
              </a:tblGrid>
              <a:tr h="1027800">
                <a:tc>
                  <a:txBody>
                    <a:bodyPr/>
                    <a:lstStyle/>
                    <a:p>
                      <a:pPr algn="ctr">
                        <a:lnSpc>
                          <a:spcPct val="100000"/>
                        </a:lnSpc>
                        <a:buNone/>
                        <a:tabLst>
                          <a:tab pos="0" algn="l"/>
                        </a:tabLst>
                      </a:pPr>
                      <a:r>
                        <a:rPr lang="en-US" sz="1800" b="0" strike="noStrike" spc="-1">
                          <a:solidFill>
                            <a:srgbClr val="000000"/>
                          </a:solidFill>
                          <a:latin typeface="Arial"/>
                          <a:ea typeface="Arial"/>
                        </a:rPr>
                        <a:t>Student Name</a:t>
                      </a:r>
                      <a:endParaRPr lang="en-IN" sz="1800" b="0" strike="noStrike" spc="-1">
                        <a:latin typeface="Arial"/>
                      </a:endParaRPr>
                    </a:p>
                  </a:txBody>
                  <a:tcPr anchor="ctr">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c>
                  <a:txBody>
                    <a:bodyPr/>
                    <a:lstStyle/>
                    <a:p>
                      <a:pPr algn="ctr">
                        <a:lnSpc>
                          <a:spcPct val="100000"/>
                        </a:lnSpc>
                        <a:buNone/>
                        <a:tabLst>
                          <a:tab pos="0" algn="l"/>
                        </a:tabLst>
                      </a:pPr>
                      <a:r>
                        <a:rPr lang="en-US" sz="1800" b="0" strike="noStrike" spc="-1">
                          <a:solidFill>
                            <a:srgbClr val="000000"/>
                          </a:solidFill>
                          <a:latin typeface="Arial"/>
                          <a:ea typeface="Arial"/>
                        </a:rPr>
                        <a:t>Recent Passport Photo</a:t>
                      </a:r>
                      <a:endParaRPr lang="en-IN" sz="1800" b="0" strike="noStrike" spc="-1">
                        <a:latin typeface="Arial"/>
                      </a:endParaRPr>
                    </a:p>
                  </a:txBody>
                  <a:tcPr anchor="ctr">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c>
                  <a:txBody>
                    <a:bodyPr/>
                    <a:lstStyle/>
                    <a:p>
                      <a:pPr algn="ctr">
                        <a:lnSpc>
                          <a:spcPct val="100000"/>
                        </a:lnSpc>
                        <a:buNone/>
                        <a:tabLst>
                          <a:tab pos="0" algn="l"/>
                        </a:tabLst>
                      </a:pPr>
                      <a:r>
                        <a:rPr lang="en-US" sz="1800" b="0" strike="noStrike" spc="-1">
                          <a:solidFill>
                            <a:srgbClr val="000000"/>
                          </a:solidFill>
                          <a:latin typeface="Arial"/>
                          <a:ea typeface="Calibri"/>
                        </a:rPr>
                        <a:t>Email ID </a:t>
                      </a:r>
                      <a:endParaRPr lang="en-IN" sz="1800" b="0" strike="noStrike" spc="-1">
                        <a:latin typeface="Arial"/>
                      </a:endParaRPr>
                    </a:p>
                  </a:txBody>
                  <a:tcPr anchor="ctr">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c>
                  <a:txBody>
                    <a:bodyPr/>
                    <a:lstStyle/>
                    <a:p>
                      <a:pPr algn="ctr">
                        <a:lnSpc>
                          <a:spcPct val="100000"/>
                        </a:lnSpc>
                        <a:buNone/>
                        <a:tabLst>
                          <a:tab pos="0" algn="l"/>
                        </a:tabLst>
                      </a:pPr>
                      <a:r>
                        <a:rPr lang="en-US" sz="1800" b="0" strike="noStrike" spc="-1">
                          <a:solidFill>
                            <a:srgbClr val="000000"/>
                          </a:solidFill>
                          <a:latin typeface="Arial"/>
                          <a:ea typeface="Calibri"/>
                        </a:rPr>
                        <a:t>Mobile number</a:t>
                      </a:r>
                      <a:endParaRPr lang="en-IN" sz="1800" b="0" strike="noStrike" spc="-1">
                        <a:latin typeface="Arial"/>
                      </a:endParaRPr>
                    </a:p>
                    <a:p>
                      <a:pPr algn="ctr">
                        <a:lnSpc>
                          <a:spcPct val="100000"/>
                        </a:lnSpc>
                        <a:buNone/>
                        <a:tabLst>
                          <a:tab pos="0" algn="l"/>
                        </a:tabLst>
                      </a:pPr>
                      <a:r>
                        <a:rPr lang="en-US" sz="1800" b="0" strike="noStrike" spc="-1">
                          <a:solidFill>
                            <a:srgbClr val="000000"/>
                          </a:solidFill>
                          <a:latin typeface="Arial"/>
                          <a:ea typeface="Calibri"/>
                        </a:rPr>
                        <a:t>[WhatsApp] </a:t>
                      </a:r>
                      <a:endParaRPr lang="en-IN" sz="1800" b="0" strike="noStrike" spc="-1">
                        <a:latin typeface="Arial"/>
                      </a:endParaRPr>
                    </a:p>
                  </a:txBody>
                  <a:tcPr anchor="ctr">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extLst>
                  <a:ext uri="{0D108BD9-81ED-4DB2-BD59-A6C34878D82A}">
                    <a16:rowId xmlns:a16="http://schemas.microsoft.com/office/drawing/2014/main" val="10000"/>
                  </a:ext>
                </a:extLst>
              </a:tr>
              <a:tr h="1261080">
                <a:tc>
                  <a:txBody>
                    <a:bodyPr/>
                    <a:lstStyle/>
                    <a:p>
                      <a:r>
                        <a:rPr lang="en-IN" sz="1800" b="0" strike="noStrike" spc="-1">
                          <a:latin typeface="Arial"/>
                        </a:rPr>
                        <a:t>Harshad Bhagat</a:t>
                      </a:r>
                    </a:p>
                  </a:txBody>
                  <a:tcPr>
                    <a:lnL w="12240">
                      <a:solidFill>
                        <a:srgbClr val="FFFFFF"/>
                      </a:solidFill>
                    </a:lnL>
                    <a:lnR w="12240">
                      <a:solidFill>
                        <a:srgbClr val="FFFFFF"/>
                      </a:solidFill>
                    </a:lnR>
                    <a:lnT w="38160">
                      <a:solidFill>
                        <a:srgbClr val="FFFFFF"/>
                      </a:solidFill>
                    </a:lnT>
                    <a:lnB w="12240">
                      <a:solidFill>
                        <a:srgbClr val="FFFFFF"/>
                      </a:solidFill>
                    </a:lnB>
                    <a:solidFill>
                      <a:srgbClr val="D0DEEF"/>
                    </a:solidFill>
                  </a:tcPr>
                </a:tc>
                <a:tc>
                  <a:txBody>
                    <a:bodyPr/>
                    <a:lstStyle/>
                    <a:p>
                      <a:endParaRPr lang="en-US"/>
                    </a:p>
                  </a:txBody>
                  <a:tcPr>
                    <a:lnL w="12240">
                      <a:solidFill>
                        <a:srgbClr val="FFFFFF"/>
                      </a:solidFill>
                    </a:lnL>
                    <a:lnR w="12240">
                      <a:solidFill>
                        <a:srgbClr val="FFFFFF"/>
                      </a:solidFill>
                    </a:lnR>
                    <a:lnT w="38160">
                      <a:solidFill>
                        <a:srgbClr val="FFFFFF"/>
                      </a:solidFill>
                    </a:lnT>
                    <a:lnB w="12240">
                      <a:solidFill>
                        <a:srgbClr val="FFFFFF"/>
                      </a:solidFill>
                    </a:lnB>
                    <a:solidFill>
                      <a:srgbClr val="D0DEEF"/>
                    </a:solidFill>
                  </a:tcPr>
                </a:tc>
                <a:tc>
                  <a:txBody>
                    <a:bodyPr/>
                    <a:lstStyle/>
                    <a:p>
                      <a:r>
                        <a:rPr lang="en-IN" sz="1800" b="0" strike="noStrike" spc="-1">
                          <a:latin typeface="Arial"/>
                        </a:rPr>
                        <a:t>harshadbgt@gmail.com</a:t>
                      </a:r>
                    </a:p>
                  </a:txBody>
                  <a:tcPr>
                    <a:lnL w="12240">
                      <a:solidFill>
                        <a:srgbClr val="FFFFFF"/>
                      </a:solidFill>
                    </a:lnL>
                    <a:lnR w="12240">
                      <a:solidFill>
                        <a:srgbClr val="FFFFFF"/>
                      </a:solidFill>
                    </a:lnR>
                    <a:lnT w="38160">
                      <a:solidFill>
                        <a:srgbClr val="FFFFFF"/>
                      </a:solidFill>
                    </a:lnT>
                    <a:lnB w="12240">
                      <a:solidFill>
                        <a:srgbClr val="FFFFFF"/>
                      </a:solidFill>
                    </a:lnB>
                    <a:solidFill>
                      <a:srgbClr val="D0DEEF"/>
                    </a:solidFill>
                  </a:tcPr>
                </a:tc>
                <a:tc>
                  <a:txBody>
                    <a:bodyPr/>
                    <a:lstStyle/>
                    <a:p>
                      <a:r>
                        <a:rPr lang="en-IN" sz="1800" b="0" strike="noStrike" spc="-1">
                          <a:latin typeface="Arial"/>
                        </a:rPr>
                        <a:t>8767791209</a:t>
                      </a:r>
                    </a:p>
                  </a:txBody>
                  <a:tcPr>
                    <a:lnL w="12240">
                      <a:solidFill>
                        <a:srgbClr val="FFFFFF"/>
                      </a:solidFill>
                    </a:lnL>
                    <a:lnR w="12240">
                      <a:solidFill>
                        <a:srgbClr val="FFFFFF"/>
                      </a:solidFill>
                    </a:lnR>
                    <a:lnT w="38160">
                      <a:solidFill>
                        <a:srgbClr val="FFFFFF"/>
                      </a:solidFill>
                    </a:lnT>
                    <a:lnB w="12240">
                      <a:solidFill>
                        <a:srgbClr val="FFFFFF"/>
                      </a:solidFill>
                    </a:lnB>
                    <a:solidFill>
                      <a:srgbClr val="D0DEEF"/>
                    </a:solidFill>
                  </a:tcPr>
                </a:tc>
                <a:extLst>
                  <a:ext uri="{0D108BD9-81ED-4DB2-BD59-A6C34878D82A}">
                    <a16:rowId xmlns:a16="http://schemas.microsoft.com/office/drawing/2014/main" val="10001"/>
                  </a:ext>
                </a:extLst>
              </a:tr>
            </a:tbl>
          </a:graphicData>
        </a:graphic>
      </p:graphicFrame>
      <p:sp>
        <p:nvSpPr>
          <p:cNvPr id="87" name="TextBox 3"/>
          <p:cNvSpPr/>
          <p:nvPr/>
        </p:nvSpPr>
        <p:spPr>
          <a:xfrm>
            <a:off x="1240200" y="1800000"/>
            <a:ext cx="1027980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1" strike="noStrike" spc="-1" dirty="0">
                <a:solidFill>
                  <a:srgbClr val="000000"/>
                </a:solidFill>
                <a:latin typeface="Arial"/>
                <a:ea typeface="Arial"/>
              </a:rPr>
              <a:t>Domain of  Project –</a:t>
            </a:r>
            <a:r>
              <a:rPr lang="en-US" sz="2400" b="0" strike="noStrike" spc="-1" dirty="0">
                <a:solidFill>
                  <a:srgbClr val="000000"/>
                </a:solidFill>
                <a:latin typeface="Arial"/>
                <a:ea typeface="Arial"/>
              </a:rPr>
              <a:t>Education / Research</a:t>
            </a:r>
            <a:endParaRPr lang="en-IN" sz="2400" b="0" strike="noStrike" spc="-1" dirty="0">
              <a:latin typeface="Arial"/>
            </a:endParaRPr>
          </a:p>
        </p:txBody>
      </p:sp>
      <p:sp>
        <p:nvSpPr>
          <p:cNvPr id="88" name="TextBox 6"/>
          <p:cNvSpPr/>
          <p:nvPr/>
        </p:nvSpPr>
        <p:spPr>
          <a:xfrm>
            <a:off x="1206000" y="551880"/>
            <a:ext cx="9580680" cy="11988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400" b="1" strike="noStrike" spc="-1" dirty="0">
                <a:solidFill>
                  <a:srgbClr val="000000"/>
                </a:solidFill>
                <a:latin typeface="Arial"/>
                <a:ea typeface="Arial"/>
              </a:rPr>
              <a:t>Project Title – </a:t>
            </a:r>
            <a:r>
              <a:rPr lang="en-IN" sz="2400" dirty="0" err="1"/>
              <a:t>PaperPilot</a:t>
            </a:r>
            <a:r>
              <a:rPr lang="en-IN" sz="2400" dirty="0"/>
              <a:t> AI</a:t>
            </a:r>
            <a:endParaRPr lang="en-IN" sz="2400" b="0" strike="noStrike" spc="-1" dirty="0">
              <a:latin typeface="Arial"/>
            </a:endParaRPr>
          </a:p>
          <a:p>
            <a:r>
              <a:rPr lang="en-IN" sz="2400" dirty="0"/>
              <a:t>Intelligent Research Companion using IBM </a:t>
            </a:r>
            <a:r>
              <a:rPr lang="en-IN" sz="2400" dirty="0" err="1"/>
              <a:t>watsonx</a:t>
            </a:r>
            <a:r>
              <a:rPr lang="en-IN" sz="2400" dirty="0"/>
              <a:t> Orchestrate &amp; IBM Granite</a:t>
            </a:r>
            <a:endParaRPr lang="en-IN" sz="2400" b="0" strike="noStrike" spc="-1" dirty="0">
              <a:latin typeface="AppleSystemUIFont"/>
              <a:ea typeface="AppleSystemUIFont"/>
            </a:endParaRPr>
          </a:p>
        </p:txBody>
      </p:sp>
      <p:sp>
        <p:nvSpPr>
          <p:cNvPr id="89" name="TextBox 2"/>
          <p:cNvSpPr/>
          <p:nvPr/>
        </p:nvSpPr>
        <p:spPr>
          <a:xfrm>
            <a:off x="1211040" y="5210640"/>
            <a:ext cx="6456240" cy="1615680"/>
          </a:xfrm>
          <a:prstGeom prst="rect">
            <a:avLst/>
          </a:prstGeom>
          <a:noFill/>
          <a:ln w="0">
            <a:noFill/>
          </a:ln>
        </p:spPr>
        <p:style>
          <a:lnRef idx="0">
            <a:scrgbClr r="0" g="0" b="0"/>
          </a:lnRef>
          <a:fillRef idx="0">
            <a:scrgbClr r="0" g="0" b="0"/>
          </a:fillRef>
          <a:effectRef idx="0">
            <a:scrgbClr r="0" g="0" b="0"/>
          </a:effectRef>
          <a:fontRef idx="minor"/>
        </p:style>
      </p:sp>
      <p:pic>
        <p:nvPicPr>
          <p:cNvPr id="90" name="Picture 89"/>
          <p:cNvPicPr/>
          <p:nvPr/>
        </p:nvPicPr>
        <p:blipFill>
          <a:blip r:embed="rId2"/>
          <a:stretch/>
        </p:blipFill>
        <p:spPr>
          <a:xfrm>
            <a:off x="4139999" y="3656568"/>
            <a:ext cx="962942" cy="1137600"/>
          </a:xfrm>
          <a:prstGeom prst="rect">
            <a:avLst/>
          </a:prstGeom>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1"/>
          <p:cNvSpPr/>
          <p:nvPr/>
        </p:nvSpPr>
        <p:spPr>
          <a:xfrm>
            <a:off x="792660" y="613571"/>
            <a:ext cx="10606680" cy="56308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spAutoFit/>
          </a:bodyPr>
          <a:lstStyle/>
          <a:p>
            <a:pPr algn="just">
              <a:lnSpc>
                <a:spcPct val="100000"/>
              </a:lnSpc>
              <a:buNone/>
            </a:pPr>
            <a:r>
              <a:rPr lang="en-US" sz="2000" b="1" strike="noStrike" spc="-1" dirty="0">
                <a:solidFill>
                  <a:srgbClr val="000000"/>
                </a:solidFill>
                <a:latin typeface="Arial"/>
                <a:ea typeface="Arial"/>
              </a:rPr>
              <a:t>Problem Statement : Research Agent</a:t>
            </a:r>
            <a:endParaRPr lang="en-IN" sz="2000" b="0" strike="noStrike" spc="-1" dirty="0">
              <a:latin typeface="Arial"/>
              <a:ea typeface="PingFang SC"/>
            </a:endParaRPr>
          </a:p>
          <a:p>
            <a:pPr algn="just">
              <a:lnSpc>
                <a:spcPct val="100000"/>
              </a:lnSpc>
              <a:buNone/>
            </a:pPr>
            <a:endParaRPr lang="en-IN" sz="2000" b="0" strike="noStrike" spc="-1" dirty="0">
              <a:latin typeface="Arial"/>
              <a:ea typeface="PingFang SC"/>
            </a:endParaRPr>
          </a:p>
          <a:p>
            <a:pPr algn="just">
              <a:lnSpc>
                <a:spcPct val="100000"/>
              </a:lnSpc>
              <a:buNone/>
            </a:pPr>
            <a:r>
              <a:rPr lang="en-US" sz="2000" b="1" u="sng" strike="noStrike" spc="-1" dirty="0">
                <a:solidFill>
                  <a:srgbClr val="000000"/>
                </a:solidFill>
                <a:uFillTx/>
                <a:latin typeface="Arial"/>
                <a:ea typeface="Arial"/>
              </a:rPr>
              <a:t>The Challenge</a:t>
            </a:r>
            <a:r>
              <a:rPr lang="en-US" sz="2000" b="0" u="sng" strike="noStrike" spc="-1" dirty="0">
                <a:solidFill>
                  <a:srgbClr val="000000"/>
                </a:solidFill>
                <a:uFillTx/>
                <a:latin typeface="Arial"/>
                <a:ea typeface="Arial"/>
              </a:rPr>
              <a:t> </a:t>
            </a:r>
            <a:endParaRPr lang="en-IN" sz="2000" b="0" strike="noStrike" spc="-1" dirty="0">
              <a:latin typeface="Arial"/>
              <a:ea typeface="PingFang SC"/>
            </a:endParaRPr>
          </a:p>
          <a:p>
            <a:pPr algn="just">
              <a:lnSpc>
                <a:spcPct val="100000"/>
              </a:lnSpc>
              <a:buNone/>
            </a:pPr>
            <a:r>
              <a:rPr lang="en-US" sz="2000" b="0" strike="noStrike" spc="-1" dirty="0">
                <a:solidFill>
                  <a:srgbClr val="000000"/>
                </a:solidFill>
                <a:latin typeface="Arial"/>
                <a:ea typeface="Arial"/>
              </a:rPr>
              <a:t>Researchers, students, and professionals often spend significant time searching across journals, conference papers, technical reports, and online repositories. Research information is fragmented across multiple platforms, making literature review, paper summarization, citation management, and research trend analysis difficult and time-consuming. Existing search tools provide documents but rarely generate structured insights or identify research gaps.</a:t>
            </a:r>
            <a:endParaRPr lang="en-IN" sz="2000" b="0" strike="noStrike" spc="-1" dirty="0">
              <a:latin typeface="AppleSystemUIFont"/>
              <a:ea typeface="AppleSystemUIFont"/>
            </a:endParaRPr>
          </a:p>
          <a:p>
            <a:pPr algn="just">
              <a:lnSpc>
                <a:spcPct val="100000"/>
              </a:lnSpc>
              <a:buNone/>
            </a:pPr>
            <a:endParaRPr lang="en-IN" sz="2000" b="0" strike="noStrike" spc="-1" dirty="0">
              <a:latin typeface="AppleSystemUIFont"/>
              <a:ea typeface="AppleSystemUIFont"/>
            </a:endParaRPr>
          </a:p>
          <a:p>
            <a:pPr algn="just">
              <a:lnSpc>
                <a:spcPct val="100000"/>
              </a:lnSpc>
              <a:buNone/>
            </a:pPr>
            <a:r>
              <a:rPr lang="en-US" sz="2000" b="1" u="sng" strike="noStrike" spc="-1" dirty="0">
                <a:solidFill>
                  <a:srgbClr val="000000"/>
                </a:solidFill>
                <a:uFillTx/>
                <a:latin typeface="Arial"/>
                <a:ea typeface="Arial"/>
              </a:rPr>
              <a:t>Objective</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Develop an Agentic AI-powered Research Agent capable of:</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Retrieving relevant research papers using Retrieval-Augmented Generation (RAG)</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Summarizing research articles</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Generating literature reviews</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Identifying research gaps</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Suggesting future research directions</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Visualizing research trends and knowledge insights</a:t>
            </a:r>
            <a:endParaRPr lang="en-IN" sz="2000" b="0" strike="noStrike" spc="-1" dirty="0">
              <a:latin typeface="AppleSystemUIFont"/>
              <a:ea typeface="AppleSystemUIFont"/>
            </a:endParaRPr>
          </a:p>
        </p:txBody>
      </p:sp>
      <p:sp>
        <p:nvSpPr>
          <p:cNvPr id="92" name="TextBox 2"/>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strike="noStrike" spc="-1" dirty="0">
                <a:solidFill>
                  <a:srgbClr val="000000"/>
                </a:solidFill>
                <a:latin typeface="Arial"/>
                <a:ea typeface="Arial"/>
              </a:rPr>
              <a:t>Problem Statement:</a:t>
            </a:r>
            <a:endParaRPr lang="en-IN" sz="2800" b="0" strike="noStrike" spc="-1" dirty="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1"/>
          <p:cNvSpPr/>
          <p:nvPr/>
        </p:nvSpPr>
        <p:spPr>
          <a:xfrm>
            <a:off x="792660" y="1306068"/>
            <a:ext cx="10606680" cy="470752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2000" b="0" strike="noStrike" spc="-1" dirty="0">
                <a:solidFill>
                  <a:srgbClr val="000000"/>
                </a:solidFill>
                <a:latin typeface="Arial"/>
                <a:ea typeface="Arial"/>
              </a:rPr>
              <a:t>The proposed solution is an AI-powered Research Agent developed using IBM </a:t>
            </a:r>
            <a:r>
              <a:rPr lang="en-US" sz="2000" b="0" strike="noStrike" spc="-1" dirty="0" err="1">
                <a:solidFill>
                  <a:srgbClr val="000000"/>
                </a:solidFill>
                <a:latin typeface="Arial"/>
                <a:ea typeface="Arial"/>
              </a:rPr>
              <a:t>watsonx</a:t>
            </a:r>
            <a:r>
              <a:rPr lang="en-US" sz="2000" b="0" strike="noStrike" spc="-1" dirty="0">
                <a:solidFill>
                  <a:srgbClr val="000000"/>
                </a:solidFill>
                <a:latin typeface="Arial"/>
                <a:ea typeface="Arial"/>
              </a:rPr>
              <a:t> Orchestrate, IBM Granite Models, </a:t>
            </a:r>
            <a:r>
              <a:rPr lang="en-US" sz="2000" b="0" strike="noStrike" spc="-1" dirty="0" err="1">
                <a:solidFill>
                  <a:srgbClr val="000000"/>
                </a:solidFill>
                <a:latin typeface="Arial"/>
                <a:ea typeface="Arial"/>
              </a:rPr>
              <a:t>LangFlow</a:t>
            </a:r>
            <a:r>
              <a:rPr lang="en-US" sz="2000" b="0" strike="noStrike" spc="-1" dirty="0">
                <a:solidFill>
                  <a:srgbClr val="000000"/>
                </a:solidFill>
                <a:latin typeface="Arial"/>
                <a:ea typeface="Arial"/>
              </a:rPr>
              <a:t>, and Retrieval-Augmented Generation (RAG).</a:t>
            </a:r>
            <a:endParaRPr lang="en-IN" sz="2000" b="0" strike="noStrike" spc="-1" dirty="0">
              <a:latin typeface="AppleSystemUIFont"/>
              <a:ea typeface="AppleSystemUIFont"/>
            </a:endParaRPr>
          </a:p>
          <a:p>
            <a:pPr algn="just"/>
            <a:endParaRPr lang="en-IN" sz="2000" b="0" strike="noStrike" spc="-1" dirty="0">
              <a:latin typeface="AppleSystemUIFont"/>
              <a:ea typeface="AppleSystemUIFont"/>
            </a:endParaRPr>
          </a:p>
          <a:p>
            <a:pPr algn="just"/>
            <a:r>
              <a:rPr lang="en-US" sz="2000" b="0" strike="noStrike" spc="-1" dirty="0">
                <a:solidFill>
                  <a:srgbClr val="000000"/>
                </a:solidFill>
                <a:latin typeface="Arial"/>
                <a:ea typeface="Arial"/>
              </a:rPr>
              <a:t>The system enables users to:</a:t>
            </a:r>
            <a:endParaRPr lang="en-IN" sz="2000" b="0" strike="noStrike" spc="-1" dirty="0">
              <a:latin typeface="AppleSystemUIFont"/>
              <a:ea typeface="AppleSystemUIFont"/>
            </a:endParaRPr>
          </a:p>
          <a:p>
            <a:pPr algn="just"/>
            <a:endParaRPr lang="en-IN" sz="2000" b="0" strike="noStrike" spc="-1" dirty="0">
              <a:latin typeface="AppleSystemUIFont"/>
              <a:ea typeface="AppleSystemUIFont"/>
            </a:endParaRPr>
          </a:p>
          <a:p>
            <a:pPr algn="just"/>
            <a:r>
              <a:rPr lang="en-US" sz="2000" b="0" strike="noStrike" spc="-1" dirty="0">
                <a:solidFill>
                  <a:srgbClr val="000000"/>
                </a:solidFill>
                <a:latin typeface="Arial"/>
                <a:ea typeface="Arial"/>
              </a:rPr>
              <a:t>• Search research papers from multiple academic sources</a:t>
            </a:r>
            <a:endParaRPr lang="en-IN" sz="2000" b="0" strike="noStrike" spc="-1" dirty="0">
              <a:latin typeface="AppleSystemUIFont"/>
              <a:ea typeface="AppleSystemUIFont"/>
            </a:endParaRPr>
          </a:p>
          <a:p>
            <a:pPr algn="just"/>
            <a:r>
              <a:rPr lang="en-US" sz="2000" b="0" strike="noStrike" spc="-1" dirty="0">
                <a:solidFill>
                  <a:srgbClr val="000000"/>
                </a:solidFill>
                <a:latin typeface="Arial"/>
                <a:ea typeface="Arial"/>
              </a:rPr>
              <a:t>• Upload research PDFs for analysis</a:t>
            </a:r>
            <a:endParaRPr lang="en-IN" sz="2000" b="0" strike="noStrike" spc="-1" dirty="0">
              <a:latin typeface="AppleSystemUIFont"/>
              <a:ea typeface="AppleSystemUIFont"/>
            </a:endParaRPr>
          </a:p>
          <a:p>
            <a:pPr algn="just"/>
            <a:r>
              <a:rPr lang="en-US" sz="2000" b="0" strike="noStrike" spc="-1" dirty="0">
                <a:solidFill>
                  <a:srgbClr val="000000"/>
                </a:solidFill>
                <a:latin typeface="Arial"/>
                <a:ea typeface="Arial"/>
              </a:rPr>
              <a:t>• Generate comprehensive literature reviews</a:t>
            </a:r>
            <a:endParaRPr lang="en-IN" sz="2000" b="0" strike="noStrike" spc="-1" dirty="0">
              <a:latin typeface="AppleSystemUIFont"/>
              <a:ea typeface="AppleSystemUIFont"/>
            </a:endParaRPr>
          </a:p>
          <a:p>
            <a:pPr algn="just"/>
            <a:r>
              <a:rPr lang="en-US" sz="2000" b="0" strike="noStrike" spc="-1" dirty="0">
                <a:solidFill>
                  <a:srgbClr val="000000"/>
                </a:solidFill>
                <a:latin typeface="Arial"/>
                <a:ea typeface="Arial"/>
              </a:rPr>
              <a:t>• Summarize lengthy research papers</a:t>
            </a:r>
            <a:endParaRPr lang="en-IN" sz="2000" b="0" strike="noStrike" spc="-1" dirty="0">
              <a:latin typeface="AppleSystemUIFont"/>
              <a:ea typeface="AppleSystemUIFont"/>
            </a:endParaRPr>
          </a:p>
          <a:p>
            <a:pPr algn="just"/>
            <a:r>
              <a:rPr lang="en-US" sz="2000" b="0" strike="noStrike" spc="-1" dirty="0">
                <a:solidFill>
                  <a:srgbClr val="000000"/>
                </a:solidFill>
                <a:latin typeface="Arial"/>
                <a:ea typeface="Arial"/>
              </a:rPr>
              <a:t>• Detect research gaps</a:t>
            </a:r>
            <a:endParaRPr lang="en-IN" sz="2000" b="0" strike="noStrike" spc="-1" dirty="0">
              <a:latin typeface="AppleSystemUIFont"/>
              <a:ea typeface="AppleSystemUIFont"/>
            </a:endParaRPr>
          </a:p>
          <a:p>
            <a:pPr algn="just"/>
            <a:r>
              <a:rPr lang="en-US" sz="2000" b="0" strike="noStrike" spc="-1" dirty="0">
                <a:solidFill>
                  <a:srgbClr val="000000"/>
                </a:solidFill>
                <a:latin typeface="Arial"/>
                <a:ea typeface="Arial"/>
              </a:rPr>
              <a:t>• Recommend future research opportunities</a:t>
            </a:r>
            <a:endParaRPr lang="en-IN" sz="2000" b="0" strike="noStrike" spc="-1" dirty="0">
              <a:latin typeface="AppleSystemUIFont"/>
              <a:ea typeface="AppleSystemUIFont"/>
            </a:endParaRPr>
          </a:p>
          <a:p>
            <a:pPr algn="just"/>
            <a:r>
              <a:rPr lang="en-US" sz="2000" b="0" strike="noStrike" spc="-1" dirty="0">
                <a:solidFill>
                  <a:srgbClr val="000000"/>
                </a:solidFill>
                <a:latin typeface="Arial"/>
                <a:ea typeface="Arial"/>
              </a:rPr>
              <a:t>• Generate structured academic insights</a:t>
            </a:r>
            <a:endParaRPr lang="en-IN" sz="2000" b="0" strike="noStrike" spc="-1" dirty="0">
              <a:latin typeface="AppleSystemUIFont"/>
              <a:ea typeface="AppleSystemUIFont"/>
            </a:endParaRPr>
          </a:p>
          <a:p>
            <a:pPr algn="just"/>
            <a:endParaRPr lang="en-IN" sz="2000" b="0" strike="noStrike" spc="-1" dirty="0">
              <a:latin typeface="AppleSystemUIFont"/>
              <a:ea typeface="AppleSystemUIFont"/>
            </a:endParaRPr>
          </a:p>
          <a:p>
            <a:pPr algn="just"/>
            <a:r>
              <a:rPr lang="en-US" sz="2000" b="0" strike="noStrike" spc="-1" dirty="0">
                <a:solidFill>
                  <a:srgbClr val="000000"/>
                </a:solidFill>
                <a:latin typeface="Arial"/>
                <a:ea typeface="Arial"/>
              </a:rPr>
              <a:t>The solution uses a multi-agent architecture where specialized AI agents collaborate to provide accurate, explainable, and context-aware research assistance.</a:t>
            </a:r>
            <a:endParaRPr lang="en-IN" sz="2000" b="0" strike="noStrike" spc="-1" dirty="0">
              <a:latin typeface="AppleSystemUIFont"/>
              <a:ea typeface="AppleSystemUIFont"/>
            </a:endParaRPr>
          </a:p>
        </p:txBody>
      </p:sp>
      <p:sp>
        <p:nvSpPr>
          <p:cNvPr id="3" name="TextBox 2">
            <a:extLst>
              <a:ext uri="{FF2B5EF4-FFF2-40B4-BE49-F238E27FC236}">
                <a16:creationId xmlns:a16="http://schemas.microsoft.com/office/drawing/2014/main" id="{7356DC45-22F9-8F74-D868-9A7434E67920}"/>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strike="noStrike" spc="-1" dirty="0">
                <a:solidFill>
                  <a:srgbClr val="000000"/>
                </a:solidFill>
                <a:latin typeface="Arial"/>
                <a:ea typeface="Arial"/>
              </a:rPr>
              <a:t>Proposed Solution:</a:t>
            </a:r>
            <a:endParaRPr lang="en-IN" sz="2800" b="0" strike="noStrike" spc="-1" dirty="0">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Box 2"/>
          <p:cNvSpPr/>
          <p:nvPr/>
        </p:nvSpPr>
        <p:spPr>
          <a:xfrm>
            <a:off x="838380" y="1166842"/>
            <a:ext cx="10515240" cy="5016758"/>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algn="just">
              <a:lnSpc>
                <a:spcPct val="100000"/>
              </a:lnSpc>
              <a:buNone/>
            </a:pPr>
            <a:r>
              <a:rPr lang="en-US" sz="2000" b="1" u="sng" strike="noStrike" spc="-1" dirty="0">
                <a:solidFill>
                  <a:srgbClr val="000000"/>
                </a:solidFill>
                <a:uFillTx/>
                <a:latin typeface="Arial"/>
                <a:ea typeface="Arial"/>
              </a:rPr>
              <a:t>IBM </a:t>
            </a:r>
            <a:r>
              <a:rPr lang="en-US" sz="2000" b="1" u="sng" strike="noStrike" spc="-1" dirty="0" err="1">
                <a:solidFill>
                  <a:srgbClr val="000000"/>
                </a:solidFill>
                <a:uFillTx/>
                <a:latin typeface="Arial"/>
                <a:ea typeface="Arial"/>
              </a:rPr>
              <a:t>watsonx</a:t>
            </a:r>
            <a:r>
              <a:rPr lang="en-US" sz="2000" b="1" u="sng" strike="noStrike" spc="-1" dirty="0">
                <a:solidFill>
                  <a:srgbClr val="000000"/>
                </a:solidFill>
                <a:uFillTx/>
                <a:latin typeface="Arial"/>
                <a:ea typeface="Arial"/>
              </a:rPr>
              <a:t> Orchestrate – Multi-Agent orchestration</a:t>
            </a:r>
            <a:endParaRPr lang="en-IN" sz="2000" b="0" strike="noStrike" spc="-1" dirty="0">
              <a:latin typeface="AppleSystemUIFont"/>
              <a:ea typeface="AppleSystemUIFont"/>
            </a:endParaRPr>
          </a:p>
          <a:p>
            <a:pPr algn="just">
              <a:lnSpc>
                <a:spcPct val="100000"/>
              </a:lnSpc>
              <a:buNone/>
            </a:pP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IBM Granite Models– Research reasoning, summarization, and question answering</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IBM watsonx.ai– Foundation models and inference</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a:t>
            </a:r>
            <a:r>
              <a:rPr lang="en-US" sz="2000" b="0" strike="noStrike" spc="-1" dirty="0" err="1">
                <a:solidFill>
                  <a:srgbClr val="000000"/>
                </a:solidFill>
                <a:latin typeface="Arial"/>
                <a:ea typeface="Arial"/>
              </a:rPr>
              <a:t>LangFlow</a:t>
            </a:r>
            <a:r>
              <a:rPr lang="en-US" sz="2000" b="0" strike="noStrike" spc="-1" dirty="0">
                <a:solidFill>
                  <a:srgbClr val="000000"/>
                </a:solidFill>
                <a:latin typeface="Arial"/>
                <a:ea typeface="Arial"/>
              </a:rPr>
              <a:t>– Visual AI workflow design</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Retrieval- Augmented Generation (RAG)</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a:t>
            </a:r>
            <a:r>
              <a:rPr lang="en-US" sz="2000" b="0" strike="noStrike" spc="-1" dirty="0" err="1">
                <a:solidFill>
                  <a:srgbClr val="000000"/>
                </a:solidFill>
                <a:latin typeface="Arial"/>
                <a:ea typeface="Arial"/>
              </a:rPr>
              <a:t>ChromaDB</a:t>
            </a:r>
            <a:r>
              <a:rPr lang="en-US" sz="2000" b="0" strike="noStrike" spc="-1" dirty="0">
                <a:solidFill>
                  <a:srgbClr val="000000"/>
                </a:solidFill>
                <a:latin typeface="Arial"/>
                <a:ea typeface="Arial"/>
              </a:rPr>
              <a:t> / FAISS– Vector Database</a:t>
            </a:r>
            <a:endParaRPr lang="en-IN" sz="2000" b="0" strike="noStrike" spc="-1" dirty="0">
              <a:latin typeface="AppleSystemUIFont"/>
              <a:ea typeface="AppleSystemUIFont"/>
            </a:endParaRPr>
          </a:p>
          <a:p>
            <a:pPr algn="just">
              <a:lnSpc>
                <a:spcPct val="100000"/>
              </a:lnSpc>
              <a:buNone/>
            </a:pPr>
            <a:endParaRPr lang="en-IN" sz="2000" b="0" strike="noStrike" spc="-1" dirty="0">
              <a:latin typeface="AppleSystemUIFont"/>
              <a:ea typeface="AppleSystemUIFont"/>
            </a:endParaRPr>
          </a:p>
          <a:p>
            <a:pPr algn="just">
              <a:lnSpc>
                <a:spcPct val="100000"/>
              </a:lnSpc>
              <a:buNone/>
            </a:pPr>
            <a:r>
              <a:rPr lang="en-US" sz="2000" b="1" u="sng" strike="noStrike" spc="-1" dirty="0">
                <a:solidFill>
                  <a:srgbClr val="000000"/>
                </a:solidFill>
                <a:uFillTx/>
                <a:latin typeface="Arial"/>
                <a:ea typeface="Arial"/>
              </a:rPr>
              <a:t>IBM Cloud – Deployment platform</a:t>
            </a:r>
            <a:endParaRPr lang="en-IN" sz="2000" b="0" strike="noStrike" spc="-1" dirty="0">
              <a:latin typeface="AppleSystemUIFont"/>
              <a:ea typeface="AppleSystemUIFont"/>
            </a:endParaRPr>
          </a:p>
          <a:p>
            <a:pPr algn="just">
              <a:lnSpc>
                <a:spcPct val="100000"/>
              </a:lnSpc>
              <a:buNone/>
            </a:pP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Python</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HTML</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CSS</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JavaScript</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PDF Parser</a:t>
            </a:r>
            <a:endParaRPr lang="en-IN" sz="2000" b="0" strike="noStrike" spc="-1" dirty="0">
              <a:latin typeface="AppleSystemUIFont"/>
              <a:ea typeface="AppleSystemUIFont"/>
            </a:endParaRPr>
          </a:p>
          <a:p>
            <a:pPr algn="just">
              <a:lnSpc>
                <a:spcPct val="100000"/>
              </a:lnSpc>
              <a:buNone/>
            </a:pPr>
            <a:r>
              <a:rPr lang="en-US" sz="2000" b="0" strike="noStrike" spc="-1" dirty="0">
                <a:solidFill>
                  <a:srgbClr val="000000"/>
                </a:solidFill>
                <a:latin typeface="Arial"/>
                <a:ea typeface="Arial"/>
              </a:rPr>
              <a:t>• OCR</a:t>
            </a:r>
            <a:endParaRPr lang="en-IN" sz="2000" b="0" strike="noStrike" spc="-1" dirty="0">
              <a:latin typeface="AppleSystemUIFont"/>
              <a:ea typeface="AppleSystemUIFont"/>
            </a:endParaRPr>
          </a:p>
        </p:txBody>
      </p:sp>
      <p:sp>
        <p:nvSpPr>
          <p:cNvPr id="3" name="TextBox 2">
            <a:extLst>
              <a:ext uri="{FF2B5EF4-FFF2-40B4-BE49-F238E27FC236}">
                <a16:creationId xmlns:a16="http://schemas.microsoft.com/office/drawing/2014/main" id="{AFD330D3-9192-912B-6658-5D7BCB1BDD36}"/>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strike="noStrike" spc="-1" dirty="0">
                <a:solidFill>
                  <a:srgbClr val="000000"/>
                </a:solidFill>
                <a:ea typeface="Arial"/>
              </a:rPr>
              <a:t>Technology Used:</a:t>
            </a:r>
            <a:endParaRPr lang="en-IN" sz="2800" b="0" strike="noStrike" spc="-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Google Shape;148;p5"/>
          <p:cNvSpPr/>
          <p:nvPr/>
        </p:nvSpPr>
        <p:spPr>
          <a:xfrm>
            <a:off x="2264400" y="6784560"/>
            <a:ext cx="2140560" cy="223920"/>
          </a:xfrm>
          <a:prstGeom prst="rect">
            <a:avLst/>
          </a:prstGeom>
          <a:noFill/>
          <a:ln w="0">
            <a:noFill/>
          </a:ln>
        </p:spPr>
        <p:style>
          <a:lnRef idx="0">
            <a:scrgbClr r="0" g="0" b="0"/>
          </a:lnRef>
          <a:fillRef idx="0">
            <a:scrgbClr r="0" g="0" b="0"/>
          </a:fillRef>
          <a:effectRef idx="0">
            <a:scrgbClr r="0" g="0" b="0"/>
          </a:effectRef>
          <a:fontRef idx="minor"/>
        </p:style>
      </p:sp>
      <p:sp>
        <p:nvSpPr>
          <p:cNvPr id="99" name="Google Shape;149;p5"/>
          <p:cNvSpPr/>
          <p:nvPr/>
        </p:nvSpPr>
        <p:spPr>
          <a:xfrm>
            <a:off x="1782720" y="7100280"/>
            <a:ext cx="3103920" cy="731520"/>
          </a:xfrm>
          <a:prstGeom prst="rect">
            <a:avLst/>
          </a:prstGeom>
          <a:noFill/>
          <a:ln w="0">
            <a:noFill/>
          </a:ln>
        </p:spPr>
        <p:style>
          <a:lnRef idx="0">
            <a:scrgbClr r="0" g="0" b="0"/>
          </a:lnRef>
          <a:fillRef idx="0">
            <a:scrgbClr r="0" g="0" b="0"/>
          </a:fillRef>
          <a:effectRef idx="0">
            <a:scrgbClr r="0" g="0" b="0"/>
          </a:effectRef>
          <a:fontRef idx="minor"/>
        </p:style>
      </p:sp>
      <p:sp>
        <p:nvSpPr>
          <p:cNvPr id="100" name="Google Shape;150;p5"/>
          <p:cNvSpPr/>
          <p:nvPr/>
        </p:nvSpPr>
        <p:spPr>
          <a:xfrm>
            <a:off x="5732280" y="6784560"/>
            <a:ext cx="1793520" cy="223920"/>
          </a:xfrm>
          <a:prstGeom prst="rect">
            <a:avLst/>
          </a:prstGeom>
          <a:noFill/>
          <a:ln w="0">
            <a:noFill/>
          </a:ln>
        </p:spPr>
        <p:style>
          <a:lnRef idx="0">
            <a:scrgbClr r="0" g="0" b="0"/>
          </a:lnRef>
          <a:fillRef idx="0">
            <a:scrgbClr r="0" g="0" b="0"/>
          </a:fillRef>
          <a:effectRef idx="0">
            <a:scrgbClr r="0" g="0" b="0"/>
          </a:effectRef>
          <a:fontRef idx="minor"/>
        </p:style>
      </p:sp>
      <p:sp>
        <p:nvSpPr>
          <p:cNvPr id="101" name="Google Shape;151;p5"/>
          <p:cNvSpPr/>
          <p:nvPr/>
        </p:nvSpPr>
        <p:spPr>
          <a:xfrm>
            <a:off x="5077440" y="7100280"/>
            <a:ext cx="3103920" cy="731520"/>
          </a:xfrm>
          <a:prstGeom prst="rect">
            <a:avLst/>
          </a:prstGeom>
          <a:noFill/>
          <a:ln w="0">
            <a:noFill/>
          </a:ln>
        </p:spPr>
        <p:style>
          <a:lnRef idx="0">
            <a:scrgbClr r="0" g="0" b="0"/>
          </a:lnRef>
          <a:fillRef idx="0">
            <a:scrgbClr r="0" g="0" b="0"/>
          </a:fillRef>
          <a:effectRef idx="0">
            <a:scrgbClr r="0" g="0" b="0"/>
          </a:effectRef>
          <a:fontRef idx="minor"/>
        </p:style>
      </p:sp>
      <p:sp>
        <p:nvSpPr>
          <p:cNvPr id="102" name="Google Shape;152;p5"/>
          <p:cNvSpPr/>
          <p:nvPr/>
        </p:nvSpPr>
        <p:spPr>
          <a:xfrm>
            <a:off x="9027000" y="6784560"/>
            <a:ext cx="1793520" cy="223920"/>
          </a:xfrm>
          <a:prstGeom prst="rect">
            <a:avLst/>
          </a:prstGeom>
          <a:noFill/>
          <a:ln w="0">
            <a:noFill/>
          </a:ln>
        </p:spPr>
        <p:style>
          <a:lnRef idx="0">
            <a:scrgbClr r="0" g="0" b="0"/>
          </a:lnRef>
          <a:fillRef idx="0">
            <a:scrgbClr r="0" g="0" b="0"/>
          </a:fillRef>
          <a:effectRef idx="0">
            <a:scrgbClr r="0" g="0" b="0"/>
          </a:effectRef>
          <a:fontRef idx="minor"/>
        </p:style>
      </p:sp>
      <p:sp>
        <p:nvSpPr>
          <p:cNvPr id="103" name="Google Shape;153;p5"/>
          <p:cNvSpPr/>
          <p:nvPr/>
        </p:nvSpPr>
        <p:spPr>
          <a:xfrm>
            <a:off x="8372160" y="7100280"/>
            <a:ext cx="3103920" cy="731520"/>
          </a:xfrm>
          <a:prstGeom prst="rect">
            <a:avLst/>
          </a:prstGeom>
          <a:noFill/>
          <a:ln w="0">
            <a:noFill/>
          </a:ln>
        </p:spPr>
        <p:style>
          <a:lnRef idx="0">
            <a:scrgbClr r="0" g="0" b="0"/>
          </a:lnRef>
          <a:fillRef idx="0">
            <a:scrgbClr r="0" g="0" b="0"/>
          </a:fillRef>
          <a:effectRef idx="0">
            <a:scrgbClr r="0" g="0" b="0"/>
          </a:effectRef>
          <a:fontRef idx="minor"/>
        </p:style>
      </p:sp>
      <p:sp>
        <p:nvSpPr>
          <p:cNvPr id="104" name="TextBox 1"/>
          <p:cNvSpPr/>
          <p:nvPr/>
        </p:nvSpPr>
        <p:spPr>
          <a:xfrm>
            <a:off x="1266856" y="763440"/>
            <a:ext cx="8930847" cy="532308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216000" indent="-216000">
              <a:buClr>
                <a:srgbClr val="000000"/>
              </a:buClr>
              <a:buSzPct val="45000"/>
              <a:buFont typeface="Wingdings" charset="2"/>
              <a:buChar char=""/>
            </a:pPr>
            <a:r>
              <a:rPr lang="en-US" sz="2000" b="0" u="sng" strike="noStrike" spc="-1" dirty="0">
                <a:solidFill>
                  <a:srgbClr val="000000"/>
                </a:solidFill>
                <a:uFillTx/>
                <a:latin typeface="Arial"/>
                <a:ea typeface="Arial"/>
              </a:rPr>
              <a:t>Chat Input- </a:t>
            </a:r>
            <a:r>
              <a:rPr lang="en-US" sz="2000" b="0" strike="noStrike" spc="-1" dirty="0">
                <a:solidFill>
                  <a:srgbClr val="000000"/>
                </a:solidFill>
                <a:latin typeface="Arial"/>
                <a:ea typeface="Arial"/>
              </a:rPr>
              <a:t>Accepts research questions from users.</a:t>
            </a:r>
            <a:endParaRPr lang="en-IN" sz="2000" b="0" strike="noStrike" spc="-1" dirty="0">
              <a:latin typeface="AppleSystemUIFont"/>
              <a:ea typeface="AppleSystemUIFont"/>
            </a:endParaRPr>
          </a:p>
          <a:p>
            <a:pPr marL="216000" indent="-216000">
              <a:buClr>
                <a:srgbClr val="000000"/>
              </a:buClr>
              <a:buSzPct val="45000"/>
              <a:buFont typeface="Wingdings" charset="2"/>
              <a:buChar char=""/>
            </a:pPr>
            <a:endParaRPr lang="en-IN" sz="2000" b="0" strike="noStrike" spc="-1" dirty="0">
              <a:latin typeface="AppleSystemUIFont"/>
              <a:ea typeface="AppleSystemUIFont"/>
            </a:endParaRPr>
          </a:p>
          <a:p>
            <a:pPr marL="216000" indent="-216000">
              <a:buClr>
                <a:srgbClr val="000000"/>
              </a:buClr>
              <a:buSzPct val="45000"/>
              <a:buFont typeface="Wingdings" charset="2"/>
              <a:buChar char=""/>
            </a:pPr>
            <a:r>
              <a:rPr lang="en-US" sz="2000" b="0" u="sng" strike="noStrike" spc="-1" dirty="0">
                <a:solidFill>
                  <a:srgbClr val="000000"/>
                </a:solidFill>
                <a:uFillTx/>
                <a:latin typeface="Arial"/>
                <a:ea typeface="Arial"/>
              </a:rPr>
              <a:t>File Upload Component-</a:t>
            </a:r>
            <a:r>
              <a:rPr lang="en-US" sz="2000" b="0" strike="noStrike" spc="-1" dirty="0">
                <a:solidFill>
                  <a:srgbClr val="000000"/>
                </a:solidFill>
                <a:latin typeface="Arial"/>
                <a:ea typeface="Arial"/>
              </a:rPr>
              <a:t> Allows uploading research papers and PDFs.</a:t>
            </a:r>
            <a:endParaRPr lang="en-IN" sz="2000" b="0" strike="noStrike" spc="-1" dirty="0">
              <a:latin typeface="AppleSystemUIFont"/>
              <a:ea typeface="AppleSystemUIFont"/>
            </a:endParaRPr>
          </a:p>
          <a:p>
            <a:pPr marL="216000" indent="-216000">
              <a:buClr>
                <a:srgbClr val="000000"/>
              </a:buClr>
              <a:buSzPct val="45000"/>
              <a:buFont typeface="Wingdings" charset="2"/>
              <a:buChar char=""/>
            </a:pPr>
            <a:endParaRPr lang="en-IN" sz="2000" b="0" strike="noStrike" spc="-1" dirty="0">
              <a:latin typeface="AppleSystemUIFont"/>
              <a:ea typeface="AppleSystemUIFont"/>
            </a:endParaRPr>
          </a:p>
          <a:p>
            <a:pPr marL="216000" indent="-216000">
              <a:buClr>
                <a:srgbClr val="000000"/>
              </a:buClr>
              <a:buSzPct val="45000"/>
              <a:buFont typeface="Wingdings" charset="2"/>
              <a:buChar char=""/>
            </a:pPr>
            <a:r>
              <a:rPr lang="en-US" sz="2000" b="0" u="sng" strike="noStrike" spc="-1" dirty="0">
                <a:solidFill>
                  <a:srgbClr val="000000"/>
                </a:solidFill>
                <a:uFillTx/>
                <a:latin typeface="Arial"/>
                <a:ea typeface="Arial"/>
              </a:rPr>
              <a:t>IBM </a:t>
            </a:r>
            <a:r>
              <a:rPr lang="en-US" sz="2000" b="0" u="sng" strike="noStrike" spc="-1" dirty="0" err="1">
                <a:solidFill>
                  <a:srgbClr val="000000"/>
                </a:solidFill>
                <a:uFillTx/>
                <a:latin typeface="Arial"/>
                <a:ea typeface="Arial"/>
              </a:rPr>
              <a:t>watsonx</a:t>
            </a:r>
            <a:r>
              <a:rPr lang="en-US" sz="2000" b="0" u="sng" strike="noStrike" spc="-1" dirty="0">
                <a:solidFill>
                  <a:srgbClr val="000000"/>
                </a:solidFill>
                <a:uFillTx/>
                <a:latin typeface="Arial"/>
                <a:ea typeface="Arial"/>
              </a:rPr>
              <a:t> AI Agent-</a:t>
            </a:r>
            <a:r>
              <a:rPr lang="en-US" sz="2000" b="0" strike="noStrike" spc="-1" dirty="0">
                <a:solidFill>
                  <a:srgbClr val="000000"/>
                </a:solidFill>
                <a:latin typeface="Arial"/>
                <a:ea typeface="Arial"/>
              </a:rPr>
              <a:t> Processes research requests using IBM Granite.</a:t>
            </a:r>
            <a:endParaRPr lang="en-IN" sz="2000" b="0" strike="noStrike" spc="-1" dirty="0">
              <a:latin typeface="AppleSystemUIFont"/>
              <a:ea typeface="AppleSystemUIFont"/>
            </a:endParaRPr>
          </a:p>
          <a:p>
            <a:pPr marL="216000" indent="-216000">
              <a:buClr>
                <a:srgbClr val="000000"/>
              </a:buClr>
              <a:buSzPct val="45000"/>
              <a:buFont typeface="Wingdings" charset="2"/>
              <a:buChar char=""/>
            </a:pPr>
            <a:endParaRPr lang="en-IN" sz="2000" b="0" strike="noStrike" spc="-1" dirty="0">
              <a:latin typeface="AppleSystemUIFont"/>
              <a:ea typeface="AppleSystemUIFont"/>
            </a:endParaRPr>
          </a:p>
          <a:p>
            <a:pPr marL="216000" indent="-216000">
              <a:buClr>
                <a:srgbClr val="000000"/>
              </a:buClr>
              <a:buSzPct val="45000"/>
              <a:buFont typeface="Wingdings" charset="2"/>
              <a:buChar char=""/>
            </a:pPr>
            <a:r>
              <a:rPr lang="en-US" sz="2000" b="0" u="sng" strike="noStrike" spc="-1" dirty="0">
                <a:solidFill>
                  <a:srgbClr val="000000"/>
                </a:solidFill>
                <a:uFillTx/>
                <a:latin typeface="Arial"/>
                <a:ea typeface="Arial"/>
              </a:rPr>
              <a:t>IBM Granite Model- </a:t>
            </a:r>
            <a:r>
              <a:rPr lang="en-US" sz="2000" b="0" strike="noStrike" spc="-1" dirty="0">
                <a:solidFill>
                  <a:srgbClr val="000000"/>
                </a:solidFill>
                <a:latin typeface="Arial"/>
                <a:ea typeface="Arial"/>
              </a:rPr>
              <a:t>Granite-4.0-8B-Instruct</a:t>
            </a:r>
            <a:endParaRPr lang="en-IN" sz="2000" b="0" strike="noStrike" spc="-1" dirty="0">
              <a:latin typeface="AppleSystemUIFont"/>
              <a:ea typeface="AppleSystemUIFont"/>
            </a:endParaRPr>
          </a:p>
          <a:p>
            <a:pPr marL="216000" indent="-216000">
              <a:buClr>
                <a:srgbClr val="000000"/>
              </a:buClr>
              <a:buSzPct val="45000"/>
              <a:buFont typeface="Wingdings" charset="2"/>
              <a:buChar char=""/>
            </a:pPr>
            <a:endParaRPr lang="en-IN" sz="2000" b="0" strike="noStrike" spc="-1" dirty="0">
              <a:latin typeface="AppleSystemUIFont"/>
              <a:ea typeface="AppleSystemUIFont"/>
            </a:endParaRPr>
          </a:p>
          <a:p>
            <a:pPr marL="216000" indent="-216000">
              <a:buClr>
                <a:srgbClr val="000000"/>
              </a:buClr>
              <a:buSzPct val="45000"/>
              <a:buFont typeface="Wingdings" charset="2"/>
              <a:buChar char=""/>
            </a:pPr>
            <a:r>
              <a:rPr lang="en-US" sz="2000" b="0" u="sng" strike="noStrike" spc="-1" dirty="0">
                <a:solidFill>
                  <a:srgbClr val="000000"/>
                </a:solidFill>
                <a:uFillTx/>
                <a:latin typeface="Arial"/>
                <a:ea typeface="Arial"/>
              </a:rPr>
              <a:t>Embedding Component- </a:t>
            </a:r>
            <a:r>
              <a:rPr lang="en-US" sz="2000" b="0" strike="noStrike" spc="-1" dirty="0">
                <a:solidFill>
                  <a:srgbClr val="000000"/>
                </a:solidFill>
                <a:latin typeface="Arial"/>
                <a:ea typeface="Arial"/>
              </a:rPr>
              <a:t>Creates document embeddings.</a:t>
            </a:r>
            <a:endParaRPr lang="en-IN" sz="2000" b="0" strike="noStrike" spc="-1" dirty="0">
              <a:latin typeface="AppleSystemUIFont"/>
              <a:ea typeface="AppleSystemUIFont"/>
            </a:endParaRPr>
          </a:p>
          <a:p>
            <a:pPr marL="216000" indent="-216000">
              <a:buClr>
                <a:srgbClr val="000000"/>
              </a:buClr>
              <a:buSzPct val="45000"/>
              <a:buFont typeface="Wingdings" charset="2"/>
              <a:buChar char=""/>
            </a:pPr>
            <a:endParaRPr lang="en-IN" sz="2000" b="0" strike="noStrike" spc="-1" dirty="0">
              <a:latin typeface="AppleSystemUIFont"/>
              <a:ea typeface="AppleSystemUIFont"/>
            </a:endParaRPr>
          </a:p>
          <a:p>
            <a:pPr marL="216000" indent="-216000">
              <a:buClr>
                <a:srgbClr val="000000"/>
              </a:buClr>
              <a:buSzPct val="45000"/>
              <a:buFont typeface="Wingdings" charset="2"/>
              <a:buChar char=""/>
            </a:pPr>
            <a:r>
              <a:rPr lang="en-US" sz="2000" b="0" u="sng" strike="noStrike" spc="-1" dirty="0">
                <a:solidFill>
                  <a:srgbClr val="000000"/>
                </a:solidFill>
                <a:uFillTx/>
                <a:latin typeface="Arial"/>
                <a:ea typeface="Arial"/>
              </a:rPr>
              <a:t>Vector Store</a:t>
            </a:r>
            <a:r>
              <a:rPr lang="en-US" sz="2000" b="0" strike="noStrike" spc="-1" dirty="0">
                <a:solidFill>
                  <a:srgbClr val="000000"/>
                </a:solidFill>
                <a:latin typeface="Arial"/>
                <a:ea typeface="Arial"/>
              </a:rPr>
              <a:t>- Stores indexed research documents.</a:t>
            </a:r>
            <a:endParaRPr lang="en-IN" sz="2000" b="0" strike="noStrike" spc="-1" dirty="0">
              <a:latin typeface="AppleSystemUIFont"/>
              <a:ea typeface="AppleSystemUIFont"/>
            </a:endParaRPr>
          </a:p>
          <a:p>
            <a:pPr marL="216000" indent="-216000">
              <a:buClr>
                <a:srgbClr val="000000"/>
              </a:buClr>
              <a:buSzPct val="45000"/>
              <a:buFont typeface="Wingdings" charset="2"/>
              <a:buChar char=""/>
            </a:pPr>
            <a:endParaRPr lang="en-IN" sz="2000" b="0" strike="noStrike" spc="-1" dirty="0">
              <a:latin typeface="AppleSystemUIFont"/>
              <a:ea typeface="AppleSystemUIFont"/>
            </a:endParaRPr>
          </a:p>
          <a:p>
            <a:pPr marL="216000" indent="-216000">
              <a:buClr>
                <a:srgbClr val="000000"/>
              </a:buClr>
              <a:buSzPct val="45000"/>
              <a:buFont typeface="Wingdings" charset="2"/>
              <a:buChar char=""/>
            </a:pPr>
            <a:r>
              <a:rPr lang="en-US" sz="2000" b="0" u="sng" strike="noStrike" spc="-1" dirty="0">
                <a:solidFill>
                  <a:srgbClr val="000000"/>
                </a:solidFill>
                <a:uFillTx/>
                <a:latin typeface="Arial"/>
                <a:ea typeface="Arial"/>
              </a:rPr>
              <a:t>Retriever</a:t>
            </a:r>
            <a:r>
              <a:rPr lang="en-US" sz="2000" b="0" strike="noStrike" spc="-1" dirty="0">
                <a:solidFill>
                  <a:srgbClr val="000000"/>
                </a:solidFill>
                <a:latin typeface="Arial"/>
                <a:ea typeface="Arial"/>
              </a:rPr>
              <a:t>- Retrieves relevant research papers.</a:t>
            </a:r>
            <a:endParaRPr lang="en-IN" sz="2000" b="0" strike="noStrike" spc="-1" dirty="0">
              <a:latin typeface="AppleSystemUIFont"/>
              <a:ea typeface="AppleSystemUIFont"/>
            </a:endParaRPr>
          </a:p>
          <a:p>
            <a:pPr marL="216000" indent="-216000">
              <a:buClr>
                <a:srgbClr val="000000"/>
              </a:buClr>
              <a:buSzPct val="45000"/>
              <a:buFont typeface="Wingdings" charset="2"/>
              <a:buChar char=""/>
            </a:pPr>
            <a:endParaRPr lang="en-IN" sz="2000" b="0" strike="noStrike" spc="-1" dirty="0">
              <a:latin typeface="AppleSystemUIFont"/>
              <a:ea typeface="AppleSystemUIFont"/>
            </a:endParaRPr>
          </a:p>
          <a:p>
            <a:pPr marL="216000" indent="-216000">
              <a:buClr>
                <a:srgbClr val="000000"/>
              </a:buClr>
              <a:buSzPct val="45000"/>
              <a:buFont typeface="Wingdings" charset="2"/>
              <a:buChar char=""/>
            </a:pPr>
            <a:r>
              <a:rPr lang="en-US" sz="2000" b="0" u="sng" strike="noStrike" spc="-1" dirty="0">
                <a:solidFill>
                  <a:srgbClr val="000000"/>
                </a:solidFill>
                <a:uFillTx/>
                <a:latin typeface="Arial"/>
                <a:ea typeface="Arial"/>
              </a:rPr>
              <a:t>Prompt Template</a:t>
            </a:r>
            <a:r>
              <a:rPr lang="en-US" sz="2000" b="0" strike="noStrike" spc="-1" dirty="0">
                <a:solidFill>
                  <a:srgbClr val="000000"/>
                </a:solidFill>
                <a:latin typeface="Arial"/>
                <a:ea typeface="Arial"/>
              </a:rPr>
              <a:t>- Creates contextual prompts.</a:t>
            </a:r>
            <a:endParaRPr lang="en-IN" sz="2000" b="0" strike="noStrike" spc="-1" dirty="0">
              <a:latin typeface="AppleSystemUIFont"/>
              <a:ea typeface="AppleSystemUIFont"/>
            </a:endParaRPr>
          </a:p>
          <a:p>
            <a:pPr marL="216000" indent="-216000">
              <a:buClr>
                <a:srgbClr val="000000"/>
              </a:buClr>
              <a:buSzPct val="45000"/>
              <a:buFont typeface="Wingdings" charset="2"/>
              <a:buChar char=""/>
            </a:pPr>
            <a:endParaRPr lang="en-IN" sz="2000" b="0" strike="noStrike" spc="-1" dirty="0">
              <a:latin typeface="AppleSystemUIFont"/>
              <a:ea typeface="AppleSystemUIFont"/>
            </a:endParaRPr>
          </a:p>
          <a:p>
            <a:pPr marL="216000" indent="-216000">
              <a:buClr>
                <a:srgbClr val="000000"/>
              </a:buClr>
              <a:buSzPct val="45000"/>
              <a:buFont typeface="Wingdings" charset="2"/>
              <a:buChar char=""/>
            </a:pPr>
            <a:r>
              <a:rPr lang="en-US" sz="2000" b="0" u="sng" strike="noStrike" spc="-1" dirty="0">
                <a:solidFill>
                  <a:srgbClr val="000000"/>
                </a:solidFill>
                <a:uFillTx/>
                <a:latin typeface="Arial"/>
                <a:ea typeface="Arial"/>
              </a:rPr>
              <a:t>Chat Output</a:t>
            </a:r>
            <a:r>
              <a:rPr lang="en-US" sz="2000" b="0" strike="noStrike" spc="-1" dirty="0">
                <a:solidFill>
                  <a:srgbClr val="000000"/>
                </a:solidFill>
                <a:latin typeface="Arial"/>
                <a:ea typeface="Arial"/>
              </a:rPr>
              <a:t>- Displays literature reviews, summaries, and research insights.</a:t>
            </a:r>
            <a:endParaRPr lang="en-IN" sz="2000" b="0" strike="noStrike" spc="-1" dirty="0">
              <a:latin typeface="AppleSystemUIFont"/>
              <a:ea typeface="AppleSystemUIFont"/>
            </a:endParaRPr>
          </a:p>
        </p:txBody>
      </p:sp>
      <p:sp>
        <p:nvSpPr>
          <p:cNvPr id="3" name="TextBox 2">
            <a:extLst>
              <a:ext uri="{FF2B5EF4-FFF2-40B4-BE49-F238E27FC236}">
                <a16:creationId xmlns:a16="http://schemas.microsoft.com/office/drawing/2014/main" id="{EE8D186D-4A2E-47E6-69B2-CD6F9CF103CE}"/>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tabLst>
                <a:tab pos="0" algn="l"/>
              </a:tabLst>
            </a:pPr>
            <a:r>
              <a:rPr lang="en-US" sz="2800" b="1" spc="-1" dirty="0" err="1">
                <a:solidFill>
                  <a:srgbClr val="000000"/>
                </a:solidFill>
                <a:ea typeface="Arial"/>
              </a:rPr>
              <a:t>Langflow</a:t>
            </a:r>
            <a:r>
              <a:rPr lang="en-US" sz="2800" b="1" strike="noStrike" spc="-1" dirty="0">
                <a:solidFill>
                  <a:srgbClr val="051D3A"/>
                </a:solidFill>
                <a:ea typeface="Times New Roman"/>
              </a:rPr>
              <a:t> </a:t>
            </a:r>
            <a:r>
              <a:rPr lang="en-US" sz="2800" b="1" spc="-1" dirty="0">
                <a:solidFill>
                  <a:srgbClr val="000000"/>
                </a:solidFill>
                <a:ea typeface="Arial"/>
              </a:rPr>
              <a:t>component Used:</a:t>
            </a:r>
            <a:endParaRPr lang="en-IN" sz="2800" spc="-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Picture 105"/>
          <p:cNvPicPr/>
          <p:nvPr/>
        </p:nvPicPr>
        <p:blipFill>
          <a:blip r:embed="rId2"/>
          <a:stretch/>
        </p:blipFill>
        <p:spPr>
          <a:xfrm>
            <a:off x="537480" y="1080000"/>
            <a:ext cx="11342520" cy="5400000"/>
          </a:xfrm>
          <a:prstGeom prst="rect">
            <a:avLst/>
          </a:prstGeom>
          <a:ln w="0">
            <a:noFill/>
          </a:ln>
        </p:spPr>
      </p:pic>
      <p:sp>
        <p:nvSpPr>
          <p:cNvPr id="3" name="TextBox 2">
            <a:extLst>
              <a:ext uri="{FF2B5EF4-FFF2-40B4-BE49-F238E27FC236}">
                <a16:creationId xmlns:a16="http://schemas.microsoft.com/office/drawing/2014/main" id="{278E7C38-E99B-C4E1-46BD-00A18696A80B}"/>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tabLst>
                <a:tab pos="0" algn="l"/>
              </a:tabLst>
            </a:pPr>
            <a:r>
              <a:rPr lang="en-US" sz="2800" b="1" spc="-1" dirty="0" err="1">
                <a:solidFill>
                  <a:srgbClr val="000000"/>
                </a:solidFill>
                <a:ea typeface="Arial"/>
              </a:rPr>
              <a:t>Langflow</a:t>
            </a:r>
            <a:r>
              <a:rPr lang="en-US" sz="2800" b="1" strike="noStrike" spc="-1" dirty="0">
                <a:solidFill>
                  <a:srgbClr val="051D3A"/>
                </a:solidFill>
                <a:ea typeface="Times New Roman"/>
              </a:rPr>
              <a:t> </a:t>
            </a:r>
            <a:r>
              <a:rPr lang="en-US" sz="2800" b="1" spc="-1" dirty="0">
                <a:solidFill>
                  <a:srgbClr val="000000"/>
                </a:solidFill>
                <a:ea typeface="Arial"/>
              </a:rPr>
              <a:t>workflow:</a:t>
            </a:r>
            <a:endParaRPr lang="en-IN" sz="2800" spc="-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 name="Picture 107"/>
          <p:cNvPicPr/>
          <p:nvPr/>
        </p:nvPicPr>
        <p:blipFill>
          <a:blip r:embed="rId2"/>
          <a:stretch/>
        </p:blipFill>
        <p:spPr>
          <a:xfrm>
            <a:off x="360000" y="641880"/>
            <a:ext cx="11369884" cy="6036120"/>
          </a:xfrm>
          <a:prstGeom prst="rect">
            <a:avLst/>
          </a:prstGeom>
          <a:ln w="0">
            <a:noFill/>
          </a:ln>
        </p:spPr>
      </p:pic>
      <p:sp>
        <p:nvSpPr>
          <p:cNvPr id="3" name="TextBox 2">
            <a:extLst>
              <a:ext uri="{FF2B5EF4-FFF2-40B4-BE49-F238E27FC236}">
                <a16:creationId xmlns:a16="http://schemas.microsoft.com/office/drawing/2014/main" id="{97D12D73-945A-7FD3-6072-452EA56461F8}"/>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strike="noStrike" spc="-1" dirty="0">
                <a:solidFill>
                  <a:srgbClr val="000000"/>
                </a:solidFill>
                <a:ea typeface="Calibri"/>
              </a:rPr>
              <a:t>Architecture Blueprint:</a:t>
            </a:r>
            <a:endParaRPr lang="en-IN" sz="2800" spc="-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Box 2"/>
          <p:cNvSpPr/>
          <p:nvPr/>
        </p:nvSpPr>
        <p:spPr>
          <a:xfrm>
            <a:off x="283307" y="921348"/>
            <a:ext cx="7214399" cy="5015304"/>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342900" indent="-342900">
              <a:buFont typeface="Arial" panose="020B0604020202020204" pitchFamily="34" charset="0"/>
              <a:buChar char="•"/>
            </a:pPr>
            <a:r>
              <a:rPr lang="en-IN" sz="2000" b="1" dirty="0"/>
              <a:t>Autonomous Research Assistant</a:t>
            </a:r>
            <a:r>
              <a:rPr lang="en-IN" sz="2000" dirty="0"/>
              <a:t> – Performs intelligent research tasks beyond simple question answering. </a:t>
            </a:r>
          </a:p>
          <a:p>
            <a:pPr marL="342900" indent="-342900">
              <a:buFont typeface="Arial" panose="020B0604020202020204" pitchFamily="34" charset="0"/>
              <a:buChar char="•"/>
            </a:pPr>
            <a:r>
              <a:rPr lang="en-IN" sz="2000" b="1" dirty="0"/>
              <a:t>Paper Discovery</a:t>
            </a:r>
            <a:r>
              <a:rPr lang="en-IN" sz="2000" dirty="0"/>
              <a:t> – Retrieves relevant academic papers using Retrieval-Augmented Generation (RAG). </a:t>
            </a:r>
          </a:p>
          <a:p>
            <a:pPr marL="342900" indent="-342900">
              <a:buFont typeface="Arial" panose="020B0604020202020204" pitchFamily="34" charset="0"/>
              <a:buChar char="•"/>
            </a:pPr>
            <a:r>
              <a:rPr lang="en-IN" sz="2000" b="1" dirty="0"/>
              <a:t>Literature Review</a:t>
            </a:r>
            <a:r>
              <a:rPr lang="en-IN" sz="2000" dirty="0"/>
              <a:t> – Combines information from multiple research papers into structured reviews. </a:t>
            </a:r>
          </a:p>
          <a:p>
            <a:pPr marL="342900" indent="-342900">
              <a:buFont typeface="Arial" panose="020B0604020202020204" pitchFamily="34" charset="0"/>
              <a:buChar char="•"/>
            </a:pPr>
            <a:r>
              <a:rPr lang="en-IN" sz="2000" b="1" dirty="0"/>
              <a:t>Research Summarization</a:t>
            </a:r>
            <a:r>
              <a:rPr lang="en-IN" sz="2000" dirty="0"/>
              <a:t> – Extracts key findings, methodologies, and conclusions from technical documents. </a:t>
            </a:r>
          </a:p>
          <a:p>
            <a:pPr marL="342900" indent="-342900">
              <a:buFont typeface="Arial" panose="020B0604020202020204" pitchFamily="34" charset="0"/>
              <a:buChar char="•"/>
            </a:pPr>
            <a:r>
              <a:rPr lang="en-IN" sz="2000" b="1" dirty="0"/>
              <a:t>Research Gap Analysis</a:t>
            </a:r>
            <a:r>
              <a:rPr lang="en-IN" sz="2000" dirty="0"/>
              <a:t> – Identifies unexplored areas and limitations for future investigation. </a:t>
            </a:r>
          </a:p>
          <a:p>
            <a:pPr marL="342900" indent="-342900">
              <a:buFont typeface="Arial" panose="020B0604020202020204" pitchFamily="34" charset="0"/>
              <a:buChar char="•"/>
            </a:pPr>
            <a:r>
              <a:rPr lang="en-IN" sz="2000" b="1" dirty="0"/>
              <a:t>Future Recommendations</a:t>
            </a:r>
            <a:r>
              <a:rPr lang="en-IN" sz="2000" dirty="0"/>
              <a:t> – Suggests promising research directions based on </a:t>
            </a:r>
            <a:r>
              <a:rPr lang="en-IN" sz="2000" dirty="0" err="1"/>
              <a:t>analyzed</a:t>
            </a:r>
            <a:r>
              <a:rPr lang="en-IN" sz="2000" dirty="0"/>
              <a:t> literature. </a:t>
            </a:r>
          </a:p>
          <a:p>
            <a:pPr marL="342900" indent="-342900">
              <a:buFont typeface="Arial" panose="020B0604020202020204" pitchFamily="34" charset="0"/>
              <a:buChar char="•"/>
            </a:pPr>
            <a:r>
              <a:rPr lang="en-IN" sz="2000" b="1" dirty="0"/>
              <a:t>Intelligent Orchestration</a:t>
            </a:r>
            <a:r>
              <a:rPr lang="en-IN" sz="2000" dirty="0"/>
              <a:t> – IBM </a:t>
            </a:r>
            <a:r>
              <a:rPr lang="en-IN" sz="2000" dirty="0" err="1"/>
              <a:t>watsonx</a:t>
            </a:r>
            <a:r>
              <a:rPr lang="en-IN" sz="2000" dirty="0"/>
              <a:t> Orchestrate coordinates AI workflows powered by IBM Granite Models to deliver accurate, explainable, and context-aware academic insights. </a:t>
            </a:r>
          </a:p>
        </p:txBody>
      </p:sp>
      <p:pic>
        <p:nvPicPr>
          <p:cNvPr id="111" name="Picture 110"/>
          <p:cNvPicPr/>
          <p:nvPr/>
        </p:nvPicPr>
        <p:blipFill>
          <a:blip r:embed="rId2">
            <a:extLst>
              <a:ext uri="{28A0092B-C50C-407E-A947-70E740481C1C}">
                <a14:useLocalDpi xmlns:a14="http://schemas.microsoft.com/office/drawing/2010/main" val="0"/>
              </a:ext>
            </a:extLst>
          </a:blip>
          <a:srcRect/>
          <a:stretch/>
        </p:blipFill>
        <p:spPr>
          <a:xfrm>
            <a:off x="7664652" y="1269000"/>
            <a:ext cx="4320000" cy="4320000"/>
          </a:xfrm>
          <a:prstGeom prst="rect">
            <a:avLst/>
          </a:prstGeom>
          <a:ln w="0">
            <a:noFill/>
          </a:ln>
        </p:spPr>
      </p:pic>
      <p:sp>
        <p:nvSpPr>
          <p:cNvPr id="3" name="TextBox 2">
            <a:extLst>
              <a:ext uri="{FF2B5EF4-FFF2-40B4-BE49-F238E27FC236}">
                <a16:creationId xmlns:a16="http://schemas.microsoft.com/office/drawing/2014/main" id="{F3D2B3F0-7E1D-2F2C-51A9-BDC407E14B8B}"/>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spc="-1" dirty="0">
                <a:solidFill>
                  <a:srgbClr val="000000"/>
                </a:solidFill>
                <a:ea typeface="Arial"/>
              </a:rPr>
              <a:t>Role of Agentic AI in the solution: </a:t>
            </a:r>
            <a:endParaRPr lang="en-IN" sz="2800" spc="-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extBox 2"/>
          <p:cNvSpPr/>
          <p:nvPr/>
        </p:nvSpPr>
        <p:spPr>
          <a:xfrm>
            <a:off x="445260" y="1029070"/>
            <a:ext cx="11301480" cy="5323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IN" sz="2000" b="1" u="sng" strike="noStrike" spc="-1" dirty="0">
                <a:solidFill>
                  <a:srgbClr val="000000"/>
                </a:solidFill>
                <a:uFillTx/>
                <a:latin typeface="Arial"/>
                <a:ea typeface="Arial"/>
              </a:rPr>
              <a:t>Novelty</a:t>
            </a:r>
            <a:endParaRPr lang="en-IN" sz="2000" b="0" strike="noStrike" spc="-1" dirty="0">
              <a:latin typeface="AppleSystemUIFont"/>
              <a:ea typeface="AppleSystemUIFont"/>
            </a:endParaRPr>
          </a:p>
          <a:p>
            <a:pPr algn="just"/>
            <a:endParaRPr lang="en-IN" sz="2000" b="0" strike="noStrike" spc="-1" dirty="0">
              <a:latin typeface="AppleSystemUIFont"/>
              <a:ea typeface="AppleSystemUIFont"/>
            </a:endParaRPr>
          </a:p>
          <a:p>
            <a:pPr algn="just"/>
            <a:r>
              <a:rPr lang="en-IN" sz="2000" b="0" strike="noStrike" spc="-1" dirty="0">
                <a:solidFill>
                  <a:srgbClr val="000000"/>
                </a:solidFill>
                <a:latin typeface="Arial"/>
                <a:ea typeface="Arial"/>
              </a:rPr>
              <a:t>• Agentic AI-powered research assistant</a:t>
            </a:r>
            <a:endParaRPr lang="en-IN" sz="2000" b="0" strike="noStrike" spc="-1" dirty="0">
              <a:latin typeface="AppleSystemUIFont"/>
              <a:ea typeface="AppleSystemUIFont"/>
            </a:endParaRPr>
          </a:p>
          <a:p>
            <a:pPr algn="just"/>
            <a:r>
              <a:rPr lang="en-IN" sz="2000" b="0" strike="noStrike" spc="-1" dirty="0">
                <a:solidFill>
                  <a:srgbClr val="000000"/>
                </a:solidFill>
                <a:latin typeface="Arial"/>
                <a:ea typeface="Arial"/>
              </a:rPr>
              <a:t>• Multi-agent collaboration</a:t>
            </a:r>
            <a:endParaRPr lang="en-IN" sz="2000" b="0" strike="noStrike" spc="-1" dirty="0">
              <a:latin typeface="AppleSystemUIFont"/>
              <a:ea typeface="AppleSystemUIFont"/>
            </a:endParaRPr>
          </a:p>
          <a:p>
            <a:pPr algn="just"/>
            <a:r>
              <a:rPr lang="en-IN" sz="2000" b="0" strike="noStrike" spc="-1" dirty="0">
                <a:solidFill>
                  <a:srgbClr val="000000"/>
                </a:solidFill>
                <a:latin typeface="Arial"/>
                <a:ea typeface="Arial"/>
              </a:rPr>
              <a:t>• Retrieval-Augmented Generation (RAG)</a:t>
            </a:r>
            <a:endParaRPr lang="en-IN" sz="2000" b="0" strike="noStrike" spc="-1" dirty="0">
              <a:latin typeface="AppleSystemUIFont"/>
              <a:ea typeface="AppleSystemUIFont"/>
            </a:endParaRPr>
          </a:p>
          <a:p>
            <a:pPr algn="just"/>
            <a:r>
              <a:rPr lang="en-IN" sz="2000" b="0" strike="noStrike" spc="-1" dirty="0">
                <a:solidFill>
                  <a:srgbClr val="000000"/>
                </a:solidFill>
                <a:latin typeface="Arial"/>
                <a:ea typeface="Arial"/>
              </a:rPr>
              <a:t>• Automatic literature review generation</a:t>
            </a:r>
            <a:endParaRPr lang="en-IN" sz="2000" b="0" strike="noStrike" spc="-1" dirty="0">
              <a:latin typeface="AppleSystemUIFont"/>
              <a:ea typeface="AppleSystemUIFont"/>
            </a:endParaRPr>
          </a:p>
          <a:p>
            <a:pPr algn="just"/>
            <a:r>
              <a:rPr lang="en-IN" sz="2000" b="0" strike="noStrike" spc="-1" dirty="0">
                <a:solidFill>
                  <a:srgbClr val="000000"/>
                </a:solidFill>
                <a:latin typeface="Arial"/>
                <a:ea typeface="Arial"/>
              </a:rPr>
              <a:t>• Intelligent research gap detection</a:t>
            </a:r>
            <a:endParaRPr lang="en-IN" sz="2000" b="0" strike="noStrike" spc="-1" dirty="0">
              <a:latin typeface="AppleSystemUIFont"/>
              <a:ea typeface="AppleSystemUIFont"/>
            </a:endParaRPr>
          </a:p>
          <a:p>
            <a:pPr algn="just"/>
            <a:r>
              <a:rPr lang="en-IN" sz="2000" b="0" strike="noStrike" spc="-1" dirty="0">
                <a:solidFill>
                  <a:srgbClr val="000000"/>
                </a:solidFill>
                <a:latin typeface="Arial"/>
                <a:ea typeface="Arial"/>
              </a:rPr>
              <a:t>• Citation recommendation</a:t>
            </a:r>
            <a:endParaRPr lang="en-IN" sz="2000" b="0" strike="noStrike" spc="-1" dirty="0">
              <a:latin typeface="AppleSystemUIFont"/>
              <a:ea typeface="AppleSystemUIFont"/>
            </a:endParaRPr>
          </a:p>
          <a:p>
            <a:pPr algn="just"/>
            <a:r>
              <a:rPr lang="en-IN" sz="2000" b="0" strike="noStrike" spc="-1" dirty="0">
                <a:solidFill>
                  <a:srgbClr val="000000"/>
                </a:solidFill>
                <a:latin typeface="Arial"/>
                <a:ea typeface="Arial"/>
              </a:rPr>
              <a:t>• Future research suggestion</a:t>
            </a:r>
            <a:endParaRPr lang="en-IN" sz="2000" b="0" strike="noStrike" spc="-1" dirty="0">
              <a:latin typeface="AppleSystemUIFont"/>
              <a:ea typeface="AppleSystemUIFont"/>
            </a:endParaRPr>
          </a:p>
          <a:p>
            <a:pPr algn="just"/>
            <a:r>
              <a:rPr lang="en-IN" sz="2000" b="0" strike="noStrike" spc="-1" dirty="0">
                <a:solidFill>
                  <a:srgbClr val="000000"/>
                </a:solidFill>
                <a:latin typeface="Arial"/>
                <a:ea typeface="Arial"/>
              </a:rPr>
              <a:t>• Explainable AI responses</a:t>
            </a:r>
            <a:endParaRPr lang="en-IN" sz="2000" b="0" strike="noStrike" spc="-1" dirty="0">
              <a:latin typeface="AppleSystemUIFont"/>
              <a:ea typeface="AppleSystemUIFont"/>
            </a:endParaRPr>
          </a:p>
          <a:p>
            <a:pPr algn="just"/>
            <a:endParaRPr lang="en-IN" sz="2000" b="0" strike="noStrike" spc="-1" dirty="0">
              <a:latin typeface="AppleSystemUIFont"/>
              <a:ea typeface="AppleSystemUIFont"/>
            </a:endParaRPr>
          </a:p>
          <a:p>
            <a:pPr algn="just"/>
            <a:r>
              <a:rPr lang="en-IN" sz="2000" b="1" u="sng" strike="noStrike" spc="-1" dirty="0">
                <a:solidFill>
                  <a:srgbClr val="000000"/>
                </a:solidFill>
                <a:uFillTx/>
                <a:latin typeface="Arial"/>
                <a:ea typeface="Arial"/>
              </a:rPr>
              <a:t>Uniqueness</a:t>
            </a:r>
            <a:endParaRPr lang="en-IN" sz="2000" b="0" strike="noStrike" spc="-1" dirty="0">
              <a:latin typeface="AppleSystemUIFont"/>
              <a:ea typeface="AppleSystemUIFont"/>
            </a:endParaRPr>
          </a:p>
          <a:p>
            <a:pPr algn="just"/>
            <a:endParaRPr lang="en-IN" sz="2000" b="0" strike="noStrike" spc="-1" dirty="0">
              <a:latin typeface="AppleSystemUIFont"/>
              <a:ea typeface="AppleSystemUIFont"/>
            </a:endParaRPr>
          </a:p>
          <a:p>
            <a:pPr algn="just"/>
            <a:r>
              <a:rPr lang="en-IN" sz="2000" b="0" strike="noStrike" spc="-1" dirty="0">
                <a:solidFill>
                  <a:srgbClr val="000000"/>
                </a:solidFill>
                <a:latin typeface="Arial"/>
                <a:ea typeface="Arial"/>
              </a:rPr>
              <a:t>Unlike traditional research search engines, the Research Agent not only retrieves papers but also </a:t>
            </a:r>
            <a:r>
              <a:rPr lang="en-IN" sz="2000" b="0" strike="noStrike" spc="-1" dirty="0" err="1">
                <a:solidFill>
                  <a:srgbClr val="000000"/>
                </a:solidFill>
                <a:latin typeface="Arial"/>
                <a:ea typeface="Arial"/>
              </a:rPr>
              <a:t>analyzes</a:t>
            </a:r>
            <a:r>
              <a:rPr lang="en-IN" sz="2000" b="0" strike="noStrike" spc="-1" dirty="0">
                <a:solidFill>
                  <a:srgbClr val="000000"/>
                </a:solidFill>
                <a:latin typeface="Arial"/>
                <a:ea typeface="Arial"/>
              </a:rPr>
              <a:t>, summarizes, compares, and synthesizes research information into structured academic insights. The system acts as an intelligent research companion capable of reducing literature review time while improving research quality.</a:t>
            </a:r>
            <a:endParaRPr lang="en-IN" sz="2000" b="0" strike="noStrike" spc="-1" dirty="0">
              <a:latin typeface="AppleSystemUIFont"/>
              <a:ea typeface="AppleSystemUIFont"/>
            </a:endParaRPr>
          </a:p>
        </p:txBody>
      </p:sp>
      <p:sp>
        <p:nvSpPr>
          <p:cNvPr id="3" name="TextBox 2">
            <a:extLst>
              <a:ext uri="{FF2B5EF4-FFF2-40B4-BE49-F238E27FC236}">
                <a16:creationId xmlns:a16="http://schemas.microsoft.com/office/drawing/2014/main" id="{987B6E6E-9DEA-1A96-D72A-7737FE3FE1E4}"/>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spc="-1" dirty="0">
                <a:solidFill>
                  <a:srgbClr val="000000"/>
                </a:solidFill>
                <a:ea typeface="Arial"/>
              </a:rPr>
              <a:t>Novelty and Uniqueness:</a:t>
            </a:r>
            <a:endParaRPr lang="en-IN" sz="2800" spc="-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Google Shape;278;p18"/>
          <p:cNvSpPr/>
          <p:nvPr/>
        </p:nvSpPr>
        <p:spPr>
          <a:xfrm>
            <a:off x="4529400" y="3204900"/>
            <a:ext cx="644400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57000"/>
              </a:lnSpc>
              <a:buNone/>
              <a:tabLst>
                <a:tab pos="0" algn="l"/>
              </a:tabLst>
            </a:pPr>
            <a:endParaRPr lang="en-IN" sz="2600" b="0" strike="noStrike" spc="-1" dirty="0">
              <a:latin typeface="Arial"/>
            </a:endParaRPr>
          </a:p>
        </p:txBody>
      </p:sp>
      <p:sp>
        <p:nvSpPr>
          <p:cNvPr id="115" name="Google Shape;279;p18"/>
          <p:cNvSpPr/>
          <p:nvPr/>
        </p:nvSpPr>
        <p:spPr>
          <a:xfrm>
            <a:off x="1218600" y="1153800"/>
            <a:ext cx="9214200" cy="427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r>
              <a:rPr lang="en-US" sz="2000" b="0" u="sng" strike="noStrike" spc="-1" dirty="0">
                <a:solidFill>
                  <a:srgbClr val="2B3541"/>
                </a:solidFill>
                <a:uFillTx/>
                <a:latin typeface="Times New Roman"/>
                <a:ea typeface="Times New Roman"/>
              </a:rPr>
              <a:t>Repository Name</a:t>
            </a:r>
            <a:r>
              <a:rPr lang="en-US" sz="2000" b="0" strike="noStrike" spc="-1" dirty="0">
                <a:solidFill>
                  <a:srgbClr val="2B3541"/>
                </a:solidFill>
                <a:latin typeface="Times New Roman"/>
                <a:ea typeface="Times New Roman"/>
              </a:rPr>
              <a:t>-</a:t>
            </a:r>
            <a:r>
              <a:rPr lang="en-US" sz="2000" b="0" strike="noStrike" spc="-1" dirty="0" err="1">
                <a:solidFill>
                  <a:srgbClr val="2B3541"/>
                </a:solidFill>
                <a:latin typeface="Times New Roman"/>
                <a:ea typeface="Times New Roman"/>
              </a:rPr>
              <a:t>paperpilot</a:t>
            </a:r>
            <a:endParaRPr lang="en-IN" sz="2000" b="0" strike="noStrike" spc="-1" dirty="0">
              <a:latin typeface="AppleSystemUIFont"/>
              <a:ea typeface="AppleSystemUIFont"/>
            </a:endParaRPr>
          </a:p>
          <a:p>
            <a:endParaRPr lang="en-IN" sz="2000" b="0" strike="noStrike" spc="-1" dirty="0">
              <a:latin typeface="AppleSystemUIFont"/>
              <a:ea typeface="AppleSystemUIFont"/>
            </a:endParaRPr>
          </a:p>
          <a:p>
            <a:r>
              <a:rPr lang="en-US" sz="2000" b="0" u="sng" strike="noStrike" spc="-1" dirty="0">
                <a:solidFill>
                  <a:srgbClr val="2B3541"/>
                </a:solidFill>
                <a:uFillTx/>
                <a:latin typeface="Times New Roman"/>
                <a:ea typeface="Times New Roman"/>
              </a:rPr>
              <a:t>Repository includes-</a:t>
            </a:r>
            <a:endParaRPr lang="en-IN" sz="2000" b="0" strike="noStrike" spc="-1" dirty="0">
              <a:latin typeface="AppleSystemUIFont"/>
              <a:ea typeface="AppleSystemUIFont"/>
            </a:endParaRPr>
          </a:p>
          <a:p>
            <a:endParaRPr lang="en-IN" sz="2000" b="0" strike="noStrike" spc="-1" dirty="0">
              <a:latin typeface="AppleSystemUIFont"/>
              <a:ea typeface="AppleSystemUIFont"/>
            </a:endParaRPr>
          </a:p>
          <a:p>
            <a:r>
              <a:rPr lang="en-US" sz="2000" b="0" strike="noStrike" spc="-1" dirty="0">
                <a:solidFill>
                  <a:srgbClr val="2B3541"/>
                </a:solidFill>
                <a:latin typeface="Times New Roman"/>
                <a:ea typeface="Times New Roman"/>
              </a:rPr>
              <a:t>• Source Code (index.html)</a:t>
            </a:r>
          </a:p>
          <a:p>
            <a:r>
              <a:rPr lang="en-US" sz="2000" b="0" strike="noStrike" spc="-1" dirty="0">
                <a:solidFill>
                  <a:srgbClr val="2B3541"/>
                </a:solidFill>
                <a:latin typeface="Times New Roman"/>
                <a:ea typeface="Times New Roman"/>
              </a:rPr>
              <a:t>• </a:t>
            </a:r>
            <a:r>
              <a:rPr lang="en-US" sz="2000" b="0" strike="noStrike" spc="-1" dirty="0" err="1">
                <a:solidFill>
                  <a:srgbClr val="2B3541"/>
                </a:solidFill>
                <a:latin typeface="Times New Roman"/>
                <a:ea typeface="Times New Roman"/>
              </a:rPr>
              <a:t>app.json</a:t>
            </a:r>
            <a:endParaRPr lang="en-US" sz="2000" b="0" strike="noStrike" spc="-1" dirty="0">
              <a:solidFill>
                <a:srgbClr val="2B3541"/>
              </a:solidFill>
              <a:latin typeface="Times New Roman"/>
              <a:ea typeface="Times New Roman"/>
            </a:endParaRPr>
          </a:p>
          <a:p>
            <a:r>
              <a:rPr lang="en-US" sz="2000" b="0" strike="noStrike" spc="-1" dirty="0">
                <a:solidFill>
                  <a:srgbClr val="2B3541"/>
                </a:solidFill>
                <a:latin typeface="Times New Roman"/>
                <a:ea typeface="Times New Roman"/>
              </a:rPr>
              <a:t>• README.md</a:t>
            </a:r>
          </a:p>
          <a:p>
            <a:r>
              <a:rPr lang="en-US" sz="2000" b="0" strike="noStrike" spc="-1" dirty="0">
                <a:solidFill>
                  <a:srgbClr val="2B3541"/>
                </a:solidFill>
                <a:latin typeface="Times New Roman"/>
                <a:ea typeface="Times New Roman"/>
              </a:rPr>
              <a:t>• LICENSE</a:t>
            </a:r>
          </a:p>
          <a:p>
            <a:r>
              <a:rPr lang="en-US" sz="2000" b="0" strike="noStrike" spc="-1" dirty="0">
                <a:solidFill>
                  <a:srgbClr val="2B3541"/>
                </a:solidFill>
                <a:latin typeface="Times New Roman"/>
                <a:ea typeface="Times New Roman"/>
              </a:rPr>
              <a:t>• Project Presentation (PPT)</a:t>
            </a:r>
          </a:p>
          <a:p>
            <a:r>
              <a:rPr lang="en-US" sz="2000" b="0" strike="noStrike" spc="-1" dirty="0">
                <a:solidFill>
                  <a:srgbClr val="2B3541"/>
                </a:solidFill>
                <a:latin typeface="Times New Roman"/>
                <a:ea typeface="Times New Roman"/>
              </a:rPr>
              <a:t>• IBM Problem Statement (PDF)</a:t>
            </a:r>
          </a:p>
          <a:p>
            <a:endParaRPr lang="en-IN" sz="2000" b="0" strike="noStrike" spc="-1" dirty="0">
              <a:latin typeface="AppleSystemUIFont"/>
              <a:ea typeface="AppleSystemUIFont"/>
            </a:endParaRPr>
          </a:p>
          <a:p>
            <a:r>
              <a:rPr lang="en-US" sz="2000" b="0" u="sng" strike="noStrike" spc="-1" dirty="0">
                <a:solidFill>
                  <a:srgbClr val="2B3541"/>
                </a:solidFill>
                <a:uFillTx/>
                <a:latin typeface="Times New Roman"/>
                <a:ea typeface="Times New Roman"/>
              </a:rPr>
              <a:t>Git Hub </a:t>
            </a:r>
            <a:r>
              <a:rPr lang="en-US" sz="2000" u="sng" spc="-1" dirty="0">
                <a:solidFill>
                  <a:srgbClr val="2B3541"/>
                </a:solidFill>
                <a:latin typeface="Times New Roman"/>
                <a:ea typeface="Times New Roman"/>
              </a:rPr>
              <a:t>Repo</a:t>
            </a:r>
            <a:r>
              <a:rPr lang="en-US" sz="2000" b="0" u="sng" strike="noStrike" spc="-1" dirty="0">
                <a:solidFill>
                  <a:srgbClr val="2B3541"/>
                </a:solidFill>
                <a:uFillTx/>
                <a:latin typeface="Times New Roman"/>
                <a:ea typeface="Times New Roman"/>
              </a:rPr>
              <a:t>-</a:t>
            </a:r>
            <a:endParaRPr lang="en-IN" sz="2000" b="0" strike="noStrike" spc="-1" dirty="0">
              <a:latin typeface="AppleSystemUIFont"/>
              <a:ea typeface="AppleSystemUIFont"/>
            </a:endParaRPr>
          </a:p>
          <a:p>
            <a:r>
              <a:rPr lang="en-US" sz="2000" b="0" u="sng" strike="noStrike" spc="-1" dirty="0">
                <a:solidFill>
                  <a:srgbClr val="2B3541"/>
                </a:solidFill>
                <a:uFillTx/>
                <a:latin typeface="AppleSystemUIFont"/>
                <a:ea typeface="AppleSystemUIFont"/>
              </a:rPr>
              <a:t>https://github.com/harshad-bgt/paperpilot</a:t>
            </a:r>
            <a:endParaRPr lang="en-IN" sz="2000" b="0" strike="noStrike" spc="-1" dirty="0">
              <a:latin typeface="AppleSystemUIFont"/>
              <a:ea typeface="AppleSystemUIFont"/>
            </a:endParaRPr>
          </a:p>
        </p:txBody>
      </p:sp>
      <p:sp>
        <p:nvSpPr>
          <p:cNvPr id="116" name="Google Shape;280;p18"/>
          <p:cNvSpPr/>
          <p:nvPr/>
        </p:nvSpPr>
        <p:spPr>
          <a:xfrm>
            <a:off x="1218600" y="3360240"/>
            <a:ext cx="7468200" cy="76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62000"/>
              </a:lnSpc>
              <a:buNone/>
              <a:tabLst>
                <a:tab pos="0" algn="l"/>
              </a:tabLst>
            </a:pPr>
            <a:r>
              <a:rPr lang="en-US" sz="1850" b="0" strike="noStrike" spc="-1">
                <a:solidFill>
                  <a:srgbClr val="2B3541"/>
                </a:solidFill>
                <a:latin typeface="Times New Roman"/>
                <a:ea typeface="Times New Roman"/>
              </a:rPr>
              <a:t>·</a:t>
            </a:r>
            <a:endParaRPr lang="en-IN" sz="1850" b="0" strike="noStrike" spc="-1">
              <a:latin typeface="Arial"/>
            </a:endParaRPr>
          </a:p>
        </p:txBody>
      </p:sp>
      <p:sp>
        <p:nvSpPr>
          <p:cNvPr id="117" name="Google Shape;281;p18"/>
          <p:cNvSpPr/>
          <p:nvPr/>
        </p:nvSpPr>
        <p:spPr>
          <a:xfrm>
            <a:off x="1218600" y="4395600"/>
            <a:ext cx="7468200" cy="76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62000"/>
              </a:lnSpc>
              <a:buNone/>
              <a:tabLst>
                <a:tab pos="0" algn="l"/>
              </a:tabLst>
            </a:pPr>
            <a:r>
              <a:rPr lang="en-US" sz="1850" b="0" strike="noStrike" spc="-1">
                <a:solidFill>
                  <a:srgbClr val="2B3541"/>
                </a:solidFill>
                <a:latin typeface="Times New Roman"/>
                <a:ea typeface="Times New Roman"/>
              </a:rPr>
              <a:t>·</a:t>
            </a:r>
            <a:endParaRPr lang="en-IN" sz="1850" b="0" strike="noStrike" spc="-1">
              <a:latin typeface="Arial"/>
            </a:endParaRPr>
          </a:p>
        </p:txBody>
      </p:sp>
      <p:sp>
        <p:nvSpPr>
          <p:cNvPr id="118" name="Google Shape;282;p18"/>
          <p:cNvSpPr/>
          <p:nvPr/>
        </p:nvSpPr>
        <p:spPr>
          <a:xfrm>
            <a:off x="1218600" y="5430600"/>
            <a:ext cx="7468200" cy="38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62000"/>
              </a:lnSpc>
              <a:buNone/>
              <a:tabLst>
                <a:tab pos="0" algn="l"/>
              </a:tabLst>
            </a:pPr>
            <a:r>
              <a:rPr lang="en-US" sz="1850" b="0" strike="noStrike" spc="-1">
                <a:solidFill>
                  <a:srgbClr val="2B3541"/>
                </a:solidFill>
                <a:latin typeface="Times New Roman"/>
                <a:ea typeface="Times New Roman"/>
              </a:rPr>
              <a:t>·</a:t>
            </a:r>
            <a:endParaRPr lang="en-IN" sz="1850" b="0" strike="noStrike" spc="-1">
              <a:latin typeface="Arial"/>
            </a:endParaRPr>
          </a:p>
        </p:txBody>
      </p:sp>
      <p:sp>
        <p:nvSpPr>
          <p:cNvPr id="3" name="TextBox 2">
            <a:extLst>
              <a:ext uri="{FF2B5EF4-FFF2-40B4-BE49-F238E27FC236}">
                <a16:creationId xmlns:a16="http://schemas.microsoft.com/office/drawing/2014/main" id="{59633328-4F5B-54C1-2665-1F66E894B834}"/>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2800" b="1" dirty="0"/>
              <a:t>Git Hub Link:</a:t>
            </a:r>
            <a:endParaRPr lang="en-IN" sz="2800" dirty="0">
              <a:effectL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Google Shape;279;p18"/>
          <p:cNvSpPr/>
          <p:nvPr/>
        </p:nvSpPr>
        <p:spPr>
          <a:xfrm>
            <a:off x="1149600" y="1437498"/>
            <a:ext cx="9892800" cy="421604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50000"/>
              </a:lnSpc>
            </a:pPr>
            <a:r>
              <a:rPr lang="en-US" sz="2000" b="0" strike="noStrike" spc="-1" dirty="0">
                <a:solidFill>
                  <a:srgbClr val="2B3541"/>
                </a:solidFill>
                <a:ea typeface="Times New Roman"/>
              </a:rPr>
              <a:t>• Integration with IEEE Xplore, ACM, Springer, and PubMed APIs</a:t>
            </a:r>
            <a:endParaRPr lang="en-IN" sz="2000" b="0" strike="noStrike" spc="-1" dirty="0">
              <a:ea typeface="AppleSystemUIFont"/>
            </a:endParaRPr>
          </a:p>
          <a:p>
            <a:pPr>
              <a:lnSpc>
                <a:spcPct val="150000"/>
              </a:lnSpc>
            </a:pPr>
            <a:r>
              <a:rPr lang="en-US" sz="2000" b="0" strike="noStrike" spc="-1" dirty="0">
                <a:solidFill>
                  <a:srgbClr val="2B3541"/>
                </a:solidFill>
                <a:ea typeface="Times New Roman"/>
              </a:rPr>
              <a:t>• Automatic survey paper generation</a:t>
            </a:r>
            <a:endParaRPr lang="en-IN" sz="2000" b="0" strike="noStrike" spc="-1" dirty="0">
              <a:ea typeface="AppleSystemUIFont"/>
            </a:endParaRPr>
          </a:p>
          <a:p>
            <a:pPr>
              <a:lnSpc>
                <a:spcPct val="150000"/>
              </a:lnSpc>
            </a:pPr>
            <a:r>
              <a:rPr lang="en-US" sz="2000" b="0" strike="noStrike" spc="-1" dirty="0">
                <a:solidFill>
                  <a:srgbClr val="2B3541"/>
                </a:solidFill>
                <a:ea typeface="Times New Roman"/>
              </a:rPr>
              <a:t>• Citation graph visualization</a:t>
            </a:r>
            <a:endParaRPr lang="en-IN" sz="2000" b="0" strike="noStrike" spc="-1" dirty="0">
              <a:ea typeface="AppleSystemUIFont"/>
            </a:endParaRPr>
          </a:p>
          <a:p>
            <a:pPr>
              <a:lnSpc>
                <a:spcPct val="150000"/>
              </a:lnSpc>
            </a:pPr>
            <a:r>
              <a:rPr lang="en-US" sz="2000" b="0" strike="noStrike" spc="-1" dirty="0">
                <a:solidFill>
                  <a:srgbClr val="2B3541"/>
                </a:solidFill>
                <a:ea typeface="Times New Roman"/>
              </a:rPr>
              <a:t>• AI-powered proposal writing assistant</a:t>
            </a:r>
            <a:endParaRPr lang="en-IN" sz="2000" b="0" strike="noStrike" spc="-1" dirty="0">
              <a:ea typeface="AppleSystemUIFont"/>
            </a:endParaRPr>
          </a:p>
          <a:p>
            <a:pPr>
              <a:lnSpc>
                <a:spcPct val="150000"/>
              </a:lnSpc>
            </a:pPr>
            <a:r>
              <a:rPr lang="en-US" sz="2000" b="0" strike="noStrike" spc="-1" dirty="0">
                <a:solidFill>
                  <a:srgbClr val="2B3541"/>
                </a:solidFill>
                <a:ea typeface="Times New Roman"/>
              </a:rPr>
              <a:t>• Research collaboration recommendations</a:t>
            </a:r>
            <a:endParaRPr lang="en-IN" sz="2000" b="0" strike="noStrike" spc="-1" dirty="0">
              <a:ea typeface="AppleSystemUIFont"/>
            </a:endParaRPr>
          </a:p>
          <a:p>
            <a:pPr>
              <a:lnSpc>
                <a:spcPct val="150000"/>
              </a:lnSpc>
            </a:pPr>
            <a:r>
              <a:rPr lang="en-US" sz="2000" b="0" strike="noStrike" spc="-1" dirty="0">
                <a:solidFill>
                  <a:srgbClr val="2B3541"/>
                </a:solidFill>
                <a:ea typeface="Times New Roman"/>
              </a:rPr>
              <a:t>• Patent search integration</a:t>
            </a:r>
            <a:endParaRPr lang="en-IN" sz="2000" b="0" strike="noStrike" spc="-1" dirty="0">
              <a:ea typeface="AppleSystemUIFont"/>
            </a:endParaRPr>
          </a:p>
          <a:p>
            <a:pPr>
              <a:lnSpc>
                <a:spcPct val="150000"/>
              </a:lnSpc>
            </a:pPr>
            <a:r>
              <a:rPr lang="en-US" sz="2000" b="0" strike="noStrike" spc="-1" dirty="0">
                <a:solidFill>
                  <a:srgbClr val="2B3541"/>
                </a:solidFill>
                <a:ea typeface="Times New Roman"/>
              </a:rPr>
              <a:t>• Voice-enabled research assistant</a:t>
            </a:r>
            <a:endParaRPr lang="en-IN" sz="2000" b="0" strike="noStrike" spc="-1" dirty="0">
              <a:ea typeface="AppleSystemUIFont"/>
            </a:endParaRPr>
          </a:p>
          <a:p>
            <a:pPr>
              <a:lnSpc>
                <a:spcPct val="150000"/>
              </a:lnSpc>
            </a:pPr>
            <a:r>
              <a:rPr lang="en-US" sz="2000" b="0" strike="noStrike" spc="-1" dirty="0">
                <a:solidFill>
                  <a:srgbClr val="2B3541"/>
                </a:solidFill>
                <a:ea typeface="Times New Roman"/>
              </a:rPr>
              <a:t>• Multi-language academic support</a:t>
            </a:r>
            <a:endParaRPr lang="en-IN" sz="2000" b="0" strike="noStrike" spc="-1" dirty="0">
              <a:ea typeface="AppleSystemUIFont"/>
            </a:endParaRPr>
          </a:p>
          <a:p>
            <a:pPr>
              <a:lnSpc>
                <a:spcPct val="150000"/>
              </a:lnSpc>
            </a:pPr>
            <a:r>
              <a:rPr lang="en-US" sz="2000" b="0" strike="noStrike" spc="-1" dirty="0">
                <a:solidFill>
                  <a:srgbClr val="2B3541"/>
                </a:solidFill>
                <a:ea typeface="Times New Roman"/>
              </a:rPr>
              <a:t>• Plagiarism detection assistance</a:t>
            </a:r>
            <a:endParaRPr lang="en-IN" sz="2000" b="0" strike="noStrike" spc="-1" dirty="0">
              <a:ea typeface="AppleSystemUIFont"/>
            </a:endParaRPr>
          </a:p>
        </p:txBody>
      </p:sp>
      <p:sp>
        <p:nvSpPr>
          <p:cNvPr id="119" name="Google Shape;278;p18"/>
          <p:cNvSpPr/>
          <p:nvPr/>
        </p:nvSpPr>
        <p:spPr>
          <a:xfrm>
            <a:off x="6303300" y="3429000"/>
            <a:ext cx="7122600" cy="70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57000"/>
              </a:lnSpc>
              <a:buNone/>
              <a:tabLst>
                <a:tab pos="0" algn="l"/>
              </a:tabLst>
            </a:pPr>
            <a:endParaRPr lang="en-IN" sz="2400" b="0" strike="noStrike" spc="-1" dirty="0">
              <a:latin typeface="Arial"/>
            </a:endParaRPr>
          </a:p>
        </p:txBody>
      </p:sp>
      <p:sp>
        <p:nvSpPr>
          <p:cNvPr id="121" name="Google Shape;280;p18"/>
          <p:cNvSpPr/>
          <p:nvPr/>
        </p:nvSpPr>
        <p:spPr>
          <a:xfrm>
            <a:off x="1218600" y="3360240"/>
            <a:ext cx="7468200" cy="76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62000"/>
              </a:lnSpc>
              <a:buNone/>
              <a:tabLst>
                <a:tab pos="0" algn="l"/>
              </a:tabLst>
            </a:pPr>
            <a:r>
              <a:rPr lang="en-US" sz="1850" b="0" strike="noStrike" spc="-1">
                <a:solidFill>
                  <a:srgbClr val="2B3541"/>
                </a:solidFill>
                <a:latin typeface="Times New Roman"/>
                <a:ea typeface="Times New Roman"/>
              </a:rPr>
              <a:t>·</a:t>
            </a:r>
            <a:endParaRPr lang="en-IN" sz="1850" b="0" strike="noStrike" spc="-1">
              <a:latin typeface="Arial"/>
            </a:endParaRPr>
          </a:p>
        </p:txBody>
      </p:sp>
      <p:sp>
        <p:nvSpPr>
          <p:cNvPr id="122" name="Google Shape;281;p18"/>
          <p:cNvSpPr/>
          <p:nvPr/>
        </p:nvSpPr>
        <p:spPr>
          <a:xfrm>
            <a:off x="1218600" y="4395600"/>
            <a:ext cx="7468200" cy="76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62000"/>
              </a:lnSpc>
              <a:buNone/>
              <a:tabLst>
                <a:tab pos="0" algn="l"/>
              </a:tabLst>
            </a:pPr>
            <a:r>
              <a:rPr lang="en-US" sz="1850" b="0" strike="noStrike" spc="-1">
                <a:solidFill>
                  <a:srgbClr val="2B3541"/>
                </a:solidFill>
                <a:latin typeface="Times New Roman"/>
                <a:ea typeface="Times New Roman"/>
              </a:rPr>
              <a:t>·</a:t>
            </a:r>
            <a:endParaRPr lang="en-IN" sz="1850" b="0" strike="noStrike" spc="-1">
              <a:latin typeface="Arial"/>
            </a:endParaRPr>
          </a:p>
        </p:txBody>
      </p:sp>
      <p:sp>
        <p:nvSpPr>
          <p:cNvPr id="123" name="Google Shape;282;p18"/>
          <p:cNvSpPr/>
          <p:nvPr/>
        </p:nvSpPr>
        <p:spPr>
          <a:xfrm>
            <a:off x="1218600" y="5430600"/>
            <a:ext cx="7468200" cy="38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62000"/>
              </a:lnSpc>
              <a:buNone/>
              <a:tabLst>
                <a:tab pos="0" algn="l"/>
              </a:tabLst>
            </a:pPr>
            <a:r>
              <a:rPr lang="en-US" sz="1850" b="0" strike="noStrike" spc="-1">
                <a:solidFill>
                  <a:srgbClr val="2B3541"/>
                </a:solidFill>
                <a:latin typeface="Times New Roman"/>
                <a:ea typeface="Times New Roman"/>
              </a:rPr>
              <a:t>·</a:t>
            </a:r>
            <a:endParaRPr lang="en-IN" sz="1850" b="0" strike="noStrike" spc="-1">
              <a:latin typeface="Arial"/>
            </a:endParaRPr>
          </a:p>
        </p:txBody>
      </p:sp>
      <p:sp>
        <p:nvSpPr>
          <p:cNvPr id="5" name="TextBox 2">
            <a:extLst>
              <a:ext uri="{FF2B5EF4-FFF2-40B4-BE49-F238E27FC236}">
                <a16:creationId xmlns:a16="http://schemas.microsoft.com/office/drawing/2014/main" id="{867979C1-6A63-F4B0-F68F-DD196279D1C9}"/>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spc="-1" dirty="0">
                <a:solidFill>
                  <a:srgbClr val="000000"/>
                </a:solidFill>
                <a:ea typeface="Arial"/>
              </a:rPr>
              <a:t>Future Scope:</a:t>
            </a:r>
            <a:endParaRPr lang="en-IN" sz="2800" spc="-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Picture 125"/>
          <p:cNvPicPr/>
          <p:nvPr/>
        </p:nvPicPr>
        <p:blipFill>
          <a:blip r:embed="rId2"/>
          <a:stretch/>
        </p:blipFill>
        <p:spPr>
          <a:xfrm>
            <a:off x="1359580" y="809237"/>
            <a:ext cx="9472839" cy="5602320"/>
          </a:xfrm>
          <a:prstGeom prst="rect">
            <a:avLst/>
          </a:prstGeom>
          <a:ln w="0">
            <a:noFill/>
          </a:ln>
        </p:spPr>
      </p:pic>
      <p:sp>
        <p:nvSpPr>
          <p:cNvPr id="3" name="TextBox 2">
            <a:extLst>
              <a:ext uri="{FF2B5EF4-FFF2-40B4-BE49-F238E27FC236}">
                <a16:creationId xmlns:a16="http://schemas.microsoft.com/office/drawing/2014/main" id="{29F1E72A-95BC-5E11-336B-3384312E1135}"/>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spc="-1" dirty="0">
                <a:solidFill>
                  <a:srgbClr val="000000"/>
                </a:solidFill>
                <a:ea typeface="Arial"/>
              </a:rPr>
              <a:t>Certificates Earned:</a:t>
            </a:r>
            <a:endParaRPr lang="en-IN" sz="2800" spc="-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 name="Picture 128"/>
          <p:cNvPicPr/>
          <p:nvPr/>
        </p:nvPicPr>
        <p:blipFill>
          <a:blip r:embed="rId2"/>
          <a:stretch/>
        </p:blipFill>
        <p:spPr>
          <a:xfrm>
            <a:off x="1146000" y="819000"/>
            <a:ext cx="9900000" cy="5220000"/>
          </a:xfrm>
          <a:prstGeom prst="rect">
            <a:avLst/>
          </a:prstGeom>
          <a:ln w="0">
            <a:noFill/>
          </a:ln>
        </p:spPr>
      </p:pic>
      <p:sp>
        <p:nvSpPr>
          <p:cNvPr id="3" name="TextBox 2">
            <a:extLst>
              <a:ext uri="{FF2B5EF4-FFF2-40B4-BE49-F238E27FC236}">
                <a16:creationId xmlns:a16="http://schemas.microsoft.com/office/drawing/2014/main" id="{3B5CC3E0-FA67-8917-B5C0-4A27994C694D}"/>
              </a:ext>
            </a:extLst>
          </p:cNvPr>
          <p:cNvSpPr/>
          <p:nvPr/>
        </p:nvSpPr>
        <p:spPr>
          <a:xfrm>
            <a:off x="283307" y="206064"/>
            <a:ext cx="72144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en-US" sz="2800" b="1" spc="-1" dirty="0">
                <a:solidFill>
                  <a:srgbClr val="000000"/>
                </a:solidFill>
                <a:ea typeface="Arial"/>
              </a:rPr>
              <a:t>Certificates Earned:</a:t>
            </a:r>
            <a:r>
              <a:rPr lang="en-US" sz="2800" spc="-1" dirty="0">
                <a:solidFill>
                  <a:srgbClr val="000000"/>
                </a:solidFill>
                <a:ea typeface="Arial"/>
              </a:rPr>
              <a:t>​</a:t>
            </a:r>
            <a:endParaRPr lang="en-IN" sz="2800" spc="-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 name="Google Shape;310;p20"/>
          <p:cNvPicPr/>
          <p:nvPr/>
        </p:nvPicPr>
        <p:blipFill>
          <a:blip r:embed="rId2"/>
          <a:stretch/>
        </p:blipFill>
        <p:spPr>
          <a:xfrm>
            <a:off x="0" y="2190240"/>
            <a:ext cx="12191760" cy="2477160"/>
          </a:xfrm>
          <a:prstGeom prst="rect">
            <a:avLst/>
          </a:prstGeom>
          <a:ln w="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488</TotalTime>
  <Words>743</Words>
  <Application>Microsoft Office PowerPoint</Application>
  <PresentationFormat>Widescreen</PresentationFormat>
  <Paragraphs>133</Paragraphs>
  <Slides>15</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AppleSystemUIFont</vt:lpstr>
      <vt:lpstr>Arial</vt:lpstr>
      <vt:lpstr>Calibri</vt:lpstr>
      <vt:lpstr>Symbol</vt:lpstr>
      <vt:lpstr>Times New Roman</vt:lpstr>
      <vt:lpstr>Wingdings</vt:lpstr>
      <vt:lpstr>Office Theme</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Manda Anirudh</dc:creator>
  <dc:description/>
  <cp:lastModifiedBy>Harshad Bhagat</cp:lastModifiedBy>
  <cp:revision>16</cp:revision>
  <dcterms:created xsi:type="dcterms:W3CDTF">2025-07-08T05:06:56Z</dcterms:created>
  <dcterms:modified xsi:type="dcterms:W3CDTF">2026-07-18T03:34:25Z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16</vt:i4>
  </property>
</Properties>
</file>